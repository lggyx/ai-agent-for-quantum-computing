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8DD0"/>
    <a:srgbClr val="F2F7FC"/>
    <a:srgbClr val="AFCEEB"/>
    <a:srgbClr val="C5DCF1"/>
    <a:srgbClr val="ECF3FA"/>
    <a:srgbClr val="31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64" d="100"/>
          <a:sy n="64" d="100"/>
        </p:scale>
        <p:origin x="267" y="45"/>
      </p:cViewPr>
      <p:guideLst>
        <p:guide orient="horz" pos="2160"/>
        <p:guide pos="1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AEC59-B5A9-45D8-A564-94A248D39C07}" type="datetimeFigureOut">
              <a:rPr lang="zh-CN" altLang="en-US" smtClean="0"/>
              <a:t>2025/3/6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46C1-2621-4C04-963F-5E4F9609F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07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BIRENSUPA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软件栈构建在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BR100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底层硬件之上，由驱动层，编程平台，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框架，以及应用解决方案构成，总称为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BIRENSUPA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软件栈，支持上层的各类用户应用场景。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其中驱动与硬件抽象层（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  Abstraction Layer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）屏蔽硬件差异，提供上层软件栈稳定和高效的调用接口和执行平台。我们也提供多种壁仞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虚拟化方式支持，包含资源硬隔离切分与时分复用等模式。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编程平台提供了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BIRENSUPA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编程模型，这是一套简单易用的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C/C++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编程接口，程序员能直接开发壁仞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执行代码。同时我们也提供丰富的加速库与完整的开发工具，让开发者快速构建应用。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在框架层，我们的软件栈已经支持业界主流的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Tensorflow</a:t>
            </a:r>
            <a:r>
              <a:rPr lang="en-US" altLang="zh-CN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框架，我们在与百度积极合作，支持我们国产的</a:t>
            </a:r>
            <a:r>
              <a:rPr lang="en-US" altLang="zh-CN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PaddlePaddle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框架。无论是单机单卡，还是分布式环境，用户利用这些框架可以方便完成</a:t>
            </a:r>
            <a:r>
              <a:rPr lang="en-US" altLang="zh-CN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模型的训练任务。壁仞也自研了推理引擎</a:t>
            </a:r>
            <a:r>
              <a:rPr lang="en-US" altLang="zh-CN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suInfer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模型的用户能快速在推理场景达到极致的推理性能。</a:t>
            </a:r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最上层是壁仞提供的应用解决方案，目前包含</a:t>
            </a:r>
            <a:r>
              <a:rPr lang="en-US" altLang="zh-CN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AutoStream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视频流与</a:t>
            </a:r>
            <a:r>
              <a:rPr lang="en-US" altLang="zh-CN" sz="120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suCTR</a:t>
            </a: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搜索广告推荐系统。我们的用户可以基于此快速构建自己的领域应用。我们还有更多的应用解决方案在研发中。</a:t>
            </a:r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en-US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我们希望这样一个完整的软件栈，让不同需求的开发者能接入壁仞的软件，都能快速开发出释放壁仞硬件强大算力的端到端应用。</a:t>
            </a:r>
            <a:endParaRPr lang="en-US" altLang="zh-CN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46C1-2621-4C04-963F-5E4F9609FCC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757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A359D4-9015-FB40-8B4E-0D2C7F078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 err="1"/>
              <a:t>Biren</a:t>
            </a:r>
            <a:r>
              <a:rPr kumimoji="1" lang="en-US" altLang="zh-CN" dirty="0"/>
              <a:t> Confidential</a:t>
            </a:r>
            <a:endParaRPr kumimoji="1" lang="zh-CN" altLang="en-US" dirty="0"/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E92C916C-92E7-46FB-8209-180188A389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71" y="313578"/>
            <a:ext cx="5062330" cy="8278545"/>
          </a:xfrm>
          <a:prstGeom prst="rect">
            <a:avLst/>
          </a:prstGeom>
        </p:spPr>
      </p:pic>
      <p:sp>
        <p:nvSpPr>
          <p:cNvPr id="9" name="矩形 6">
            <a:extLst>
              <a:ext uri="{FF2B5EF4-FFF2-40B4-BE49-F238E27FC236}">
                <a16:creationId xmlns:a16="http://schemas.microsoft.com/office/drawing/2014/main" id="{E910F7AB-FB21-40DB-9E6B-22FBDC9A7E22}"/>
              </a:ext>
            </a:extLst>
          </p:cNvPr>
          <p:cNvSpPr/>
          <p:nvPr userDrawn="1"/>
        </p:nvSpPr>
        <p:spPr>
          <a:xfrm>
            <a:off x="1571223" y="2268733"/>
            <a:ext cx="489397" cy="1878264"/>
          </a:xfrm>
          <a:prstGeom prst="rect">
            <a:avLst/>
          </a:prstGeom>
          <a:gradFill flip="none" rotWithShape="1">
            <a:gsLst>
              <a:gs pos="0">
                <a:srgbClr val="C9AE8D">
                  <a:tint val="66000"/>
                  <a:satMod val="160000"/>
                </a:srgbClr>
              </a:gs>
              <a:gs pos="50000">
                <a:srgbClr val="1988CD"/>
              </a:gs>
              <a:gs pos="0">
                <a:srgbClr val="C9AE8D">
                  <a:tint val="44500"/>
                  <a:satMod val="160000"/>
                </a:srgbClr>
              </a:gs>
              <a:gs pos="0">
                <a:srgbClr val="11B6E4"/>
              </a:gs>
              <a:gs pos="100000">
                <a:srgbClr val="205CA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矩形 30">
            <a:extLst>
              <a:ext uri="{FF2B5EF4-FFF2-40B4-BE49-F238E27FC236}">
                <a16:creationId xmlns:a16="http://schemas.microsoft.com/office/drawing/2014/main" id="{1C3ADCFB-DE44-4FFE-A9A1-A06E96D2ADB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366368" y="6319529"/>
            <a:ext cx="1868845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76717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www.birentech.com</a:t>
            </a:r>
            <a:endParaRPr lang="zh-CN" altLang="en-US" sz="1400" dirty="0">
              <a:solidFill>
                <a:srgbClr val="76717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610A284-0EEA-4E57-8A4B-BE3A2704F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8412" y="2283651"/>
            <a:ext cx="6638319" cy="1878264"/>
          </a:xfrm>
          <a:noFill/>
        </p:spPr>
        <p:txBody>
          <a:bodyPr anchor="b">
            <a:normAutofit/>
          </a:bodyPr>
          <a:lstStyle>
            <a:lvl1pPr algn="ctr">
              <a:defRPr sz="4800" b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F7F6C4-6B2C-45CC-989E-C320BC326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0621" y="4399533"/>
            <a:ext cx="6638318" cy="697706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pic>
        <p:nvPicPr>
          <p:cNvPr id="15" name="图片 5">
            <a:extLst>
              <a:ext uri="{FF2B5EF4-FFF2-40B4-BE49-F238E27FC236}">
                <a16:creationId xmlns:a16="http://schemas.microsoft.com/office/drawing/2014/main" id="{2CAFF61F-D529-4954-AC1B-81F43648759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" cy="685800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0B21965E-FE8A-41F7-94BA-C4C75CD0DEA8}"/>
              </a:ext>
            </a:extLst>
          </p:cNvPr>
          <p:cNvSpPr txBox="1"/>
          <p:nvPr userDrawn="1"/>
        </p:nvSpPr>
        <p:spPr>
          <a:xfrm>
            <a:off x="1832159" y="321670"/>
            <a:ext cx="3940171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400" b="1" spc="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  <a:sym typeface="Arial" panose="020B0604020202020204" pitchFamily="34" charset="0"/>
              </a:rPr>
              <a:t>BIREN TECHNOLOGY</a:t>
            </a:r>
          </a:p>
          <a:p>
            <a:r>
              <a:rPr lang="zh-CN" altLang="en-US" sz="2400" b="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上海壁仞智能科技有限公司</a:t>
            </a:r>
            <a:endParaRPr lang="zh-CN" altLang="en-US" sz="2400" b="0" spc="200" dirty="0">
              <a:solidFill>
                <a:schemeClr val="bg2">
                  <a:lumMod val="50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65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色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532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44427EB-1CA2-469D-B8D6-02BA7A954118}"/>
              </a:ext>
            </a:extLst>
          </p:cNvPr>
          <p:cNvSpPr txBox="1"/>
          <p:nvPr userDrawn="1"/>
        </p:nvSpPr>
        <p:spPr>
          <a:xfrm>
            <a:off x="-210160" y="1171462"/>
            <a:ext cx="1289621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800" b="1" spc="300" dirty="0">
                <a:solidFill>
                  <a:srgbClr val="F7F7F7"/>
                </a:solidFill>
                <a:cs typeface="+mn-ea"/>
                <a:sym typeface="+mn-lt"/>
              </a:rPr>
              <a:t>BIREN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673F4C69-739D-4FF6-B606-E10DB1BEA471}"/>
              </a:ext>
            </a:extLst>
          </p:cNvPr>
          <p:cNvSpPr txBox="1"/>
          <p:nvPr userDrawn="1"/>
        </p:nvSpPr>
        <p:spPr>
          <a:xfrm>
            <a:off x="1132548" y="2612198"/>
            <a:ext cx="9828123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00" b="1" spc="300" dirty="0">
                <a:gradFill>
                  <a:gsLst>
                    <a:gs pos="0">
                      <a:srgbClr val="11B6E4"/>
                    </a:gs>
                    <a:gs pos="100000">
                      <a:srgbClr val="205CAC"/>
                    </a:gs>
                  </a:gsLst>
                  <a:lin ang="13200000" scaled="0"/>
                </a:gradFill>
                <a:cs typeface="+mn-ea"/>
                <a:sym typeface="+mn-lt"/>
              </a:rPr>
              <a:t>THANK YOU</a:t>
            </a:r>
          </a:p>
        </p:txBody>
      </p:sp>
      <p:pic>
        <p:nvPicPr>
          <p:cNvPr id="9" name="图片 27">
            <a:extLst>
              <a:ext uri="{FF2B5EF4-FFF2-40B4-BE49-F238E27FC236}">
                <a16:creationId xmlns:a16="http://schemas.microsoft.com/office/drawing/2014/main" id="{5CECD6A3-7387-437F-898F-DA9E1C856F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57022">
            <a:off x="7687811" y="1892995"/>
            <a:ext cx="5062330" cy="827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5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3B00A2-90AB-F746-BD79-120D41FF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DF4FE-865B-864B-8626-BA4FF0251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0336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461963" indent="-461963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801688" indent="-34448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2pPr>
      <a:lvl3pPr marL="1143000" indent="-341313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3pPr>
      <a:lvl4pPr marL="1376363" indent="-2349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4pPr>
      <a:lvl5pPr marL="1601788" indent="-2254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D7255ECA-5C05-417C-8E21-6B539DB2FC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7FC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F4F777B-B65C-4846-87B4-1320D35C6837}"/>
              </a:ext>
            </a:extLst>
          </p:cNvPr>
          <p:cNvSpPr/>
          <p:nvPr/>
        </p:nvSpPr>
        <p:spPr>
          <a:xfrm>
            <a:off x="1989688" y="4747249"/>
            <a:ext cx="9857756" cy="854247"/>
          </a:xfrm>
          <a:prstGeom prst="rect">
            <a:avLst/>
          </a:prstGeom>
          <a:noFill/>
          <a:ln w="19050">
            <a:solidFill>
              <a:srgbClr val="448DD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5" name="矩形 67">
            <a:extLst>
              <a:ext uri="{FF2B5EF4-FFF2-40B4-BE49-F238E27FC236}">
                <a16:creationId xmlns:a16="http://schemas.microsoft.com/office/drawing/2014/main" id="{A9DD0C3A-C805-F096-61B3-067D0A4C529F}"/>
              </a:ext>
            </a:extLst>
          </p:cNvPr>
          <p:cNvSpPr/>
          <p:nvPr/>
        </p:nvSpPr>
        <p:spPr>
          <a:xfrm>
            <a:off x="2142578" y="5273497"/>
            <a:ext cx="9532110" cy="38914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prstMaterial="matte">
            <a:bevelT h="38100"/>
            <a:bevelB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Firmware</a:t>
            </a:r>
          </a:p>
        </p:txBody>
      </p:sp>
      <p:grpSp>
        <p:nvGrpSpPr>
          <p:cNvPr id="16" name="组合 11">
            <a:extLst>
              <a:ext uri="{FF2B5EF4-FFF2-40B4-BE49-F238E27FC236}">
                <a16:creationId xmlns:a16="http://schemas.microsoft.com/office/drawing/2014/main" id="{0AC58F65-99A9-81EB-FB20-25426A4B1BA4}"/>
              </a:ext>
            </a:extLst>
          </p:cNvPr>
          <p:cNvGrpSpPr/>
          <p:nvPr/>
        </p:nvGrpSpPr>
        <p:grpSpPr>
          <a:xfrm>
            <a:off x="274322" y="2930741"/>
            <a:ext cx="11407755" cy="1317344"/>
            <a:chOff x="2738012" y="2293700"/>
            <a:chExt cx="8276972" cy="891565"/>
          </a:xfrm>
        </p:grpSpPr>
        <p:sp>
          <p:nvSpPr>
            <p:cNvPr id="17" name="文本框 35">
              <a:extLst>
                <a:ext uri="{FF2B5EF4-FFF2-40B4-BE49-F238E27FC236}">
                  <a16:creationId xmlns:a16="http://schemas.microsoft.com/office/drawing/2014/main" id="{394D952C-6A8F-4B53-4A95-B340AB80520E}"/>
                </a:ext>
              </a:extLst>
            </p:cNvPr>
            <p:cNvSpPr txBox="1"/>
            <p:nvPr/>
          </p:nvSpPr>
          <p:spPr>
            <a:xfrm>
              <a:off x="2738012" y="2555468"/>
              <a:ext cx="920531" cy="3124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Programming Platform</a:t>
              </a:r>
              <a:endPara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92">
              <a:extLst>
                <a:ext uri="{FF2B5EF4-FFF2-40B4-BE49-F238E27FC236}">
                  <a16:creationId xmlns:a16="http://schemas.microsoft.com/office/drawing/2014/main" id="{46E02101-2913-48C1-FA32-C507B9D8B63D}"/>
                </a:ext>
              </a:extLst>
            </p:cNvPr>
            <p:cNvSpPr/>
            <p:nvPr/>
          </p:nvSpPr>
          <p:spPr>
            <a:xfrm>
              <a:off x="4110753" y="2914634"/>
              <a:ext cx="6904231" cy="270631"/>
            </a:xfrm>
            <a:prstGeom prst="roundRect">
              <a:avLst>
                <a:gd name="adj" fmla="val 50000"/>
              </a:avLst>
            </a:prstGeom>
            <a:solidFill>
              <a:srgbClr val="448DD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Compiler</a:t>
              </a:r>
              <a:endParaRPr lang="zh-CN" altLang="en-US" sz="1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组合 21">
              <a:extLst>
                <a:ext uri="{FF2B5EF4-FFF2-40B4-BE49-F238E27FC236}">
                  <a16:creationId xmlns:a16="http://schemas.microsoft.com/office/drawing/2014/main" id="{BDC9A4D4-E962-F303-721B-F6836EC96BEE}"/>
                </a:ext>
              </a:extLst>
            </p:cNvPr>
            <p:cNvGrpSpPr/>
            <p:nvPr/>
          </p:nvGrpSpPr>
          <p:grpSpPr>
            <a:xfrm>
              <a:off x="4105393" y="2293700"/>
              <a:ext cx="6904231" cy="525856"/>
              <a:chOff x="4105393" y="2113966"/>
              <a:chExt cx="6904231" cy="525856"/>
            </a:xfrm>
          </p:grpSpPr>
          <p:sp>
            <p:nvSpPr>
              <p:cNvPr id="20" name="圆角矩形 93">
                <a:extLst>
                  <a:ext uri="{FF2B5EF4-FFF2-40B4-BE49-F238E27FC236}">
                    <a16:creationId xmlns:a16="http://schemas.microsoft.com/office/drawing/2014/main" id="{53CA9722-6D70-5F02-1622-DDE525A474E0}"/>
                  </a:ext>
                </a:extLst>
              </p:cNvPr>
              <p:cNvSpPr/>
              <p:nvPr/>
            </p:nvSpPr>
            <p:spPr>
              <a:xfrm>
                <a:off x="4105393" y="2113966"/>
                <a:ext cx="2230719" cy="52585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bg2">
                        <a:lumMod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BIRENSUPA</a:t>
                </a:r>
                <a:endParaRPr lang="en-US" altLang="zh-CN" sz="14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400" b="1" dirty="0">
                    <a:solidFill>
                      <a:schemeClr val="bg2">
                        <a:lumMod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Programming Model</a:t>
                </a:r>
              </a:p>
              <a:p>
                <a:pPr algn="ctr"/>
                <a:endParaRPr lang="en-US" altLang="zh-CN" sz="10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C++ Extension, Runtime/Driver API</a:t>
                </a:r>
                <a:endParaRPr lang="zh-CN" altLang="en-US" sz="11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圆角矩形 94">
                <a:extLst>
                  <a:ext uri="{FF2B5EF4-FFF2-40B4-BE49-F238E27FC236}">
                    <a16:creationId xmlns:a16="http://schemas.microsoft.com/office/drawing/2014/main" id="{193618B9-7BB9-89D4-0C02-B98BD088A5EA}"/>
                  </a:ext>
                </a:extLst>
              </p:cNvPr>
              <p:cNvSpPr/>
              <p:nvPr/>
            </p:nvSpPr>
            <p:spPr>
              <a:xfrm>
                <a:off x="8778905" y="2113966"/>
                <a:ext cx="2230719" cy="52585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bg2">
                        <a:lumMod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Tools</a:t>
                </a:r>
                <a:endParaRPr lang="en-US" altLang="zh-CN" sz="14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9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suProfiler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suPTI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suDebugger</a:t>
                </a:r>
                <a:endParaRPr lang="en-US" altLang="zh-CN" sz="11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brSMI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/ML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brMSG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suVS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…</a:t>
                </a:r>
                <a:endParaRPr lang="zh-CN" altLang="en-US" sz="11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圆角矩形 95">
                <a:extLst>
                  <a:ext uri="{FF2B5EF4-FFF2-40B4-BE49-F238E27FC236}">
                    <a16:creationId xmlns:a16="http://schemas.microsoft.com/office/drawing/2014/main" id="{590E0777-F756-16A3-3F29-646D3F65B28D}"/>
                  </a:ext>
                </a:extLst>
              </p:cNvPr>
              <p:cNvSpPr/>
              <p:nvPr/>
            </p:nvSpPr>
            <p:spPr>
              <a:xfrm>
                <a:off x="6438099" y="2113966"/>
                <a:ext cx="2230719" cy="525856"/>
              </a:xfrm>
              <a:prstGeom prst="roundRect">
                <a:avLst>
                  <a:gd name="adj" fmla="val 5000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200" b="1" dirty="0">
                    <a:solidFill>
                      <a:schemeClr val="bg2">
                        <a:lumMod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Libraries</a:t>
                </a:r>
                <a:endParaRPr lang="en-US" altLang="zh-CN" sz="1400" b="1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endParaRPr lang="en-US" altLang="zh-CN" sz="9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suDNN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suBLAS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BPP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suCCL</a:t>
                </a:r>
                <a:endParaRPr lang="en-US" altLang="zh-CN" sz="11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suFFT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suRAND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</a:t>
                </a:r>
                <a:r>
                  <a:rPr lang="en-US" altLang="zh-CN" sz="1100" dirty="0" err="1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sutlass</a:t>
                </a:r>
                <a:r>
                  <a:rPr lang="en-US" altLang="zh-CN" sz="11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| ...</a:t>
                </a:r>
              </a:p>
            </p:txBody>
          </p:sp>
        </p:grpSp>
      </p:grpSp>
      <p:grpSp>
        <p:nvGrpSpPr>
          <p:cNvPr id="28" name="组合 10">
            <a:extLst>
              <a:ext uri="{FF2B5EF4-FFF2-40B4-BE49-F238E27FC236}">
                <a16:creationId xmlns:a16="http://schemas.microsoft.com/office/drawing/2014/main" id="{6BC31F0E-C99C-9EF4-2EC2-9F2569E29242}"/>
              </a:ext>
            </a:extLst>
          </p:cNvPr>
          <p:cNvGrpSpPr/>
          <p:nvPr/>
        </p:nvGrpSpPr>
        <p:grpSpPr>
          <a:xfrm>
            <a:off x="274320" y="264380"/>
            <a:ext cx="10710345" cy="407629"/>
            <a:chOff x="2738011" y="625815"/>
            <a:chExt cx="7770962" cy="274186"/>
          </a:xfrm>
        </p:grpSpPr>
        <p:sp>
          <p:nvSpPr>
            <p:cNvPr id="29" name="文本框 46">
              <a:extLst>
                <a:ext uri="{FF2B5EF4-FFF2-40B4-BE49-F238E27FC236}">
                  <a16:creationId xmlns:a16="http://schemas.microsoft.com/office/drawing/2014/main" id="{B53B82E4-F2EC-6337-C1DC-FE1D8F044F41}"/>
                </a:ext>
              </a:extLst>
            </p:cNvPr>
            <p:cNvSpPr txBox="1"/>
            <p:nvPr/>
          </p:nvSpPr>
          <p:spPr>
            <a:xfrm>
              <a:off x="2738011" y="673828"/>
              <a:ext cx="925966" cy="2070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0">
              <a:spAutoFit/>
            </a:bodyPr>
            <a:lstStyle/>
            <a:p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</a:t>
              </a:r>
              <a:endPara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6">
              <a:extLst>
                <a:ext uri="{FF2B5EF4-FFF2-40B4-BE49-F238E27FC236}">
                  <a16:creationId xmlns:a16="http://schemas.microsoft.com/office/drawing/2014/main" id="{D758BCC2-4C5E-7D56-FE4D-33A1AB4F6763}"/>
                </a:ext>
              </a:extLst>
            </p:cNvPr>
            <p:cNvGrpSpPr/>
            <p:nvPr/>
          </p:nvGrpSpPr>
          <p:grpSpPr>
            <a:xfrm>
              <a:off x="4497847" y="625815"/>
              <a:ext cx="6011126" cy="274186"/>
              <a:chOff x="4497847" y="509333"/>
              <a:chExt cx="6011126" cy="274186"/>
            </a:xfrm>
          </p:grpSpPr>
          <p:sp>
            <p:nvSpPr>
              <p:cNvPr id="31" name="iconfont-1186-567130">
                <a:extLst>
                  <a:ext uri="{FF2B5EF4-FFF2-40B4-BE49-F238E27FC236}">
                    <a16:creationId xmlns:a16="http://schemas.microsoft.com/office/drawing/2014/main" id="{08C9F301-EAEF-8093-8D6B-DD9D26D593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83487" y="509333"/>
                <a:ext cx="242149" cy="242149"/>
              </a:xfrm>
              <a:custGeom>
                <a:avLst/>
                <a:gdLst>
                  <a:gd name="T0" fmla="*/ 0 w 12800"/>
                  <a:gd name="T1" fmla="*/ 6400 h 12800"/>
                  <a:gd name="T2" fmla="*/ 12800 w 12800"/>
                  <a:gd name="T3" fmla="*/ 6400 h 12800"/>
                  <a:gd name="T4" fmla="*/ 10348 w 12800"/>
                  <a:gd name="T5" fmla="*/ 10348 h 12800"/>
                  <a:gd name="T6" fmla="*/ 6400 w 12800"/>
                  <a:gd name="T7" fmla="*/ 11983 h 12800"/>
                  <a:gd name="T8" fmla="*/ 2452 w 12800"/>
                  <a:gd name="T9" fmla="*/ 10348 h 12800"/>
                  <a:gd name="T10" fmla="*/ 817 w 12800"/>
                  <a:gd name="T11" fmla="*/ 6400 h 12800"/>
                  <a:gd name="T12" fmla="*/ 2452 w 12800"/>
                  <a:gd name="T13" fmla="*/ 2452 h 12800"/>
                  <a:gd name="T14" fmla="*/ 6400 w 12800"/>
                  <a:gd name="T15" fmla="*/ 817 h 12800"/>
                  <a:gd name="T16" fmla="*/ 10348 w 12800"/>
                  <a:gd name="T17" fmla="*/ 2452 h 12800"/>
                  <a:gd name="T18" fmla="*/ 11983 w 12800"/>
                  <a:gd name="T19" fmla="*/ 6400 h 12800"/>
                  <a:gd name="T20" fmla="*/ 10348 w 12800"/>
                  <a:gd name="T21" fmla="*/ 10348 h 12800"/>
                  <a:gd name="T22" fmla="*/ 4676 w 12800"/>
                  <a:gd name="T23" fmla="*/ 4542 h 12800"/>
                  <a:gd name="T24" fmla="*/ 5446 w 12800"/>
                  <a:gd name="T25" fmla="*/ 4375 h 12800"/>
                  <a:gd name="T26" fmla="*/ 7220 w 12800"/>
                  <a:gd name="T27" fmla="*/ 3873 h 12800"/>
                  <a:gd name="T28" fmla="*/ 7990 w 12800"/>
                  <a:gd name="T29" fmla="*/ 4542 h 12800"/>
                  <a:gd name="T30" fmla="*/ 9061 w 12800"/>
                  <a:gd name="T31" fmla="*/ 3873 h 12800"/>
                  <a:gd name="T32" fmla="*/ 10099 w 12800"/>
                  <a:gd name="T33" fmla="*/ 3270 h 12800"/>
                  <a:gd name="T34" fmla="*/ 7923 w 12800"/>
                  <a:gd name="T35" fmla="*/ 3337 h 12800"/>
                  <a:gd name="T36" fmla="*/ 7990 w 12800"/>
                  <a:gd name="T37" fmla="*/ 2701 h 12800"/>
                  <a:gd name="T38" fmla="*/ 7153 w 12800"/>
                  <a:gd name="T39" fmla="*/ 2534 h 12800"/>
                  <a:gd name="T40" fmla="*/ 7220 w 12800"/>
                  <a:gd name="T41" fmla="*/ 3337 h 12800"/>
                  <a:gd name="T42" fmla="*/ 5412 w 12800"/>
                  <a:gd name="T43" fmla="*/ 3136 h 12800"/>
                  <a:gd name="T44" fmla="*/ 5546 w 12800"/>
                  <a:gd name="T45" fmla="*/ 2668 h 12800"/>
                  <a:gd name="T46" fmla="*/ 4743 w 12800"/>
                  <a:gd name="T47" fmla="*/ 3170 h 12800"/>
                  <a:gd name="T48" fmla="*/ 3906 w 12800"/>
                  <a:gd name="T49" fmla="*/ 3337 h 12800"/>
                  <a:gd name="T50" fmla="*/ 2768 w 12800"/>
                  <a:gd name="T51" fmla="*/ 3940 h 12800"/>
                  <a:gd name="T52" fmla="*/ 4743 w 12800"/>
                  <a:gd name="T53" fmla="*/ 3873 h 12800"/>
                  <a:gd name="T54" fmla="*/ 8258 w 12800"/>
                  <a:gd name="T55" fmla="*/ 7421 h 12800"/>
                  <a:gd name="T56" fmla="*/ 9932 w 12800"/>
                  <a:gd name="T57" fmla="*/ 6785 h 12800"/>
                  <a:gd name="T58" fmla="*/ 8894 w 12800"/>
                  <a:gd name="T59" fmla="*/ 6149 h 12800"/>
                  <a:gd name="T60" fmla="*/ 6015 w 12800"/>
                  <a:gd name="T61" fmla="*/ 6115 h 12800"/>
                  <a:gd name="T62" fmla="*/ 5680 w 12800"/>
                  <a:gd name="T63" fmla="*/ 6752 h 12800"/>
                  <a:gd name="T64" fmla="*/ 6685 w 12800"/>
                  <a:gd name="T65" fmla="*/ 6685 h 12800"/>
                  <a:gd name="T66" fmla="*/ 7588 w 12800"/>
                  <a:gd name="T67" fmla="*/ 7187 h 12800"/>
                  <a:gd name="T68" fmla="*/ 6383 w 12800"/>
                  <a:gd name="T69" fmla="*/ 7655 h 12800"/>
                  <a:gd name="T70" fmla="*/ 5346 w 12800"/>
                  <a:gd name="T71" fmla="*/ 8258 h 12800"/>
                  <a:gd name="T72" fmla="*/ 6383 w 12800"/>
                  <a:gd name="T73" fmla="*/ 8191 h 12800"/>
                  <a:gd name="T74" fmla="*/ 7588 w 12800"/>
                  <a:gd name="T75" fmla="*/ 9162 h 12800"/>
                  <a:gd name="T76" fmla="*/ 6952 w 12800"/>
                  <a:gd name="T77" fmla="*/ 10266 h 12800"/>
                  <a:gd name="T78" fmla="*/ 8258 w 12800"/>
                  <a:gd name="T79" fmla="*/ 8191 h 12800"/>
                  <a:gd name="T80" fmla="*/ 10233 w 12800"/>
                  <a:gd name="T81" fmla="*/ 8258 h 12800"/>
                  <a:gd name="T82" fmla="*/ 9229 w 12800"/>
                  <a:gd name="T83" fmla="*/ 7655 h 12800"/>
                  <a:gd name="T84" fmla="*/ 4977 w 12800"/>
                  <a:gd name="T85" fmla="*/ 6517 h 12800"/>
                  <a:gd name="T86" fmla="*/ 5848 w 12800"/>
                  <a:gd name="T87" fmla="*/ 5446 h 12800"/>
                  <a:gd name="T88" fmla="*/ 10065 w 12800"/>
                  <a:gd name="T89" fmla="*/ 5513 h 12800"/>
                  <a:gd name="T90" fmla="*/ 8927 w 12800"/>
                  <a:gd name="T91" fmla="*/ 4910 h 12800"/>
                  <a:gd name="T92" fmla="*/ 6484 w 12800"/>
                  <a:gd name="T93" fmla="*/ 4576 h 12800"/>
                  <a:gd name="T94" fmla="*/ 6115 w 12800"/>
                  <a:gd name="T95" fmla="*/ 4341 h 12800"/>
                  <a:gd name="T96" fmla="*/ 5413 w 12800"/>
                  <a:gd name="T97" fmla="*/ 4910 h 12800"/>
                  <a:gd name="T98" fmla="*/ 2835 w 12800"/>
                  <a:gd name="T99" fmla="*/ 4877 h 12800"/>
                  <a:gd name="T100" fmla="*/ 2801 w 12800"/>
                  <a:gd name="T101" fmla="*/ 5513 h 12800"/>
                  <a:gd name="T102" fmla="*/ 3873 w 12800"/>
                  <a:gd name="T103" fmla="*/ 5446 h 12800"/>
                  <a:gd name="T104" fmla="*/ 2567 w 12800"/>
                  <a:gd name="T105" fmla="*/ 7722 h 12800"/>
                  <a:gd name="T106" fmla="*/ 4274 w 12800"/>
                  <a:gd name="T107" fmla="*/ 7153 h 12800"/>
                  <a:gd name="T108" fmla="*/ 4207 w 12800"/>
                  <a:gd name="T109" fmla="*/ 10199 h 12800"/>
                  <a:gd name="T110" fmla="*/ 4977 w 12800"/>
                  <a:gd name="T111" fmla="*/ 9262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2800" h="12800">
                    <a:moveTo>
                      <a:pt x="6400" y="0"/>
                    </a:moveTo>
                    <a:cubicBezTo>
                      <a:pt x="2865" y="0"/>
                      <a:pt x="0" y="2865"/>
                      <a:pt x="0" y="6400"/>
                    </a:cubicBezTo>
                    <a:cubicBezTo>
                      <a:pt x="0" y="9935"/>
                      <a:pt x="2865" y="12800"/>
                      <a:pt x="6400" y="12800"/>
                    </a:cubicBezTo>
                    <a:cubicBezTo>
                      <a:pt x="9935" y="12800"/>
                      <a:pt x="12800" y="9935"/>
                      <a:pt x="12800" y="6400"/>
                    </a:cubicBezTo>
                    <a:cubicBezTo>
                      <a:pt x="12800" y="2865"/>
                      <a:pt x="9935" y="0"/>
                      <a:pt x="6400" y="0"/>
                    </a:cubicBezTo>
                    <a:close/>
                    <a:moveTo>
                      <a:pt x="10348" y="10348"/>
                    </a:moveTo>
                    <a:cubicBezTo>
                      <a:pt x="9835" y="10861"/>
                      <a:pt x="9238" y="11263"/>
                      <a:pt x="8573" y="11545"/>
                    </a:cubicBezTo>
                    <a:cubicBezTo>
                      <a:pt x="7885" y="11835"/>
                      <a:pt x="7154" y="11983"/>
                      <a:pt x="6400" y="11983"/>
                    </a:cubicBezTo>
                    <a:cubicBezTo>
                      <a:pt x="5646" y="11983"/>
                      <a:pt x="4915" y="11835"/>
                      <a:pt x="4227" y="11545"/>
                    </a:cubicBezTo>
                    <a:cubicBezTo>
                      <a:pt x="3562" y="11263"/>
                      <a:pt x="2965" y="10861"/>
                      <a:pt x="2452" y="10348"/>
                    </a:cubicBezTo>
                    <a:cubicBezTo>
                      <a:pt x="1939" y="9835"/>
                      <a:pt x="1537" y="9238"/>
                      <a:pt x="1255" y="8573"/>
                    </a:cubicBezTo>
                    <a:cubicBezTo>
                      <a:pt x="965" y="7885"/>
                      <a:pt x="817" y="7154"/>
                      <a:pt x="817" y="6400"/>
                    </a:cubicBezTo>
                    <a:cubicBezTo>
                      <a:pt x="817" y="5646"/>
                      <a:pt x="965" y="4915"/>
                      <a:pt x="1255" y="4227"/>
                    </a:cubicBezTo>
                    <a:cubicBezTo>
                      <a:pt x="1537" y="3562"/>
                      <a:pt x="1939" y="2965"/>
                      <a:pt x="2452" y="2452"/>
                    </a:cubicBezTo>
                    <a:cubicBezTo>
                      <a:pt x="2965" y="1939"/>
                      <a:pt x="3562" y="1537"/>
                      <a:pt x="4227" y="1255"/>
                    </a:cubicBezTo>
                    <a:cubicBezTo>
                      <a:pt x="4915" y="965"/>
                      <a:pt x="5646" y="817"/>
                      <a:pt x="6400" y="817"/>
                    </a:cubicBezTo>
                    <a:cubicBezTo>
                      <a:pt x="7154" y="817"/>
                      <a:pt x="7885" y="965"/>
                      <a:pt x="8573" y="1255"/>
                    </a:cubicBezTo>
                    <a:cubicBezTo>
                      <a:pt x="9238" y="1537"/>
                      <a:pt x="9835" y="1939"/>
                      <a:pt x="10348" y="2452"/>
                    </a:cubicBezTo>
                    <a:cubicBezTo>
                      <a:pt x="10861" y="2965"/>
                      <a:pt x="11263" y="3562"/>
                      <a:pt x="11545" y="4227"/>
                    </a:cubicBezTo>
                    <a:cubicBezTo>
                      <a:pt x="11835" y="4915"/>
                      <a:pt x="11983" y="5646"/>
                      <a:pt x="11983" y="6400"/>
                    </a:cubicBezTo>
                    <a:cubicBezTo>
                      <a:pt x="11983" y="7154"/>
                      <a:pt x="11835" y="7885"/>
                      <a:pt x="11545" y="8573"/>
                    </a:cubicBezTo>
                    <a:cubicBezTo>
                      <a:pt x="11263" y="9238"/>
                      <a:pt x="10861" y="9835"/>
                      <a:pt x="10348" y="10348"/>
                    </a:cubicBezTo>
                    <a:close/>
                    <a:moveTo>
                      <a:pt x="4743" y="3873"/>
                    </a:moveTo>
                    <a:lnTo>
                      <a:pt x="4676" y="4542"/>
                    </a:lnTo>
                    <a:lnTo>
                      <a:pt x="5513" y="4542"/>
                    </a:lnTo>
                    <a:cubicBezTo>
                      <a:pt x="5490" y="4520"/>
                      <a:pt x="5468" y="4464"/>
                      <a:pt x="5446" y="4375"/>
                    </a:cubicBezTo>
                    <a:cubicBezTo>
                      <a:pt x="5423" y="4196"/>
                      <a:pt x="5412" y="4029"/>
                      <a:pt x="5412" y="3873"/>
                    </a:cubicBezTo>
                    <a:lnTo>
                      <a:pt x="7220" y="3873"/>
                    </a:lnTo>
                    <a:cubicBezTo>
                      <a:pt x="7220" y="4230"/>
                      <a:pt x="7198" y="4453"/>
                      <a:pt x="7153" y="4542"/>
                    </a:cubicBezTo>
                    <a:lnTo>
                      <a:pt x="7990" y="4542"/>
                    </a:lnTo>
                    <a:cubicBezTo>
                      <a:pt x="7923" y="4341"/>
                      <a:pt x="7901" y="4119"/>
                      <a:pt x="7923" y="3873"/>
                    </a:cubicBezTo>
                    <a:lnTo>
                      <a:pt x="9061" y="3873"/>
                    </a:lnTo>
                    <a:cubicBezTo>
                      <a:pt x="9507" y="3895"/>
                      <a:pt x="9853" y="3918"/>
                      <a:pt x="10099" y="3940"/>
                    </a:cubicBezTo>
                    <a:lnTo>
                      <a:pt x="10099" y="3270"/>
                    </a:lnTo>
                    <a:cubicBezTo>
                      <a:pt x="9920" y="3315"/>
                      <a:pt x="9574" y="3337"/>
                      <a:pt x="9061" y="3337"/>
                    </a:cubicBezTo>
                    <a:lnTo>
                      <a:pt x="7923" y="3337"/>
                    </a:lnTo>
                    <a:lnTo>
                      <a:pt x="7923" y="3170"/>
                    </a:lnTo>
                    <a:cubicBezTo>
                      <a:pt x="7923" y="2991"/>
                      <a:pt x="7945" y="2835"/>
                      <a:pt x="7990" y="2701"/>
                    </a:cubicBezTo>
                    <a:cubicBezTo>
                      <a:pt x="8012" y="2657"/>
                      <a:pt x="8024" y="2623"/>
                      <a:pt x="8024" y="2601"/>
                    </a:cubicBezTo>
                    <a:cubicBezTo>
                      <a:pt x="7979" y="2579"/>
                      <a:pt x="7689" y="2556"/>
                      <a:pt x="7153" y="2534"/>
                    </a:cubicBezTo>
                    <a:cubicBezTo>
                      <a:pt x="7198" y="2623"/>
                      <a:pt x="7220" y="2824"/>
                      <a:pt x="7220" y="3136"/>
                    </a:cubicBezTo>
                    <a:lnTo>
                      <a:pt x="7220" y="3337"/>
                    </a:lnTo>
                    <a:lnTo>
                      <a:pt x="5412" y="3337"/>
                    </a:lnTo>
                    <a:lnTo>
                      <a:pt x="5412" y="3136"/>
                    </a:lnTo>
                    <a:cubicBezTo>
                      <a:pt x="5412" y="2980"/>
                      <a:pt x="5446" y="2846"/>
                      <a:pt x="5513" y="2735"/>
                    </a:cubicBezTo>
                    <a:cubicBezTo>
                      <a:pt x="5535" y="2713"/>
                      <a:pt x="5546" y="2690"/>
                      <a:pt x="5546" y="2668"/>
                    </a:cubicBezTo>
                    <a:cubicBezTo>
                      <a:pt x="5479" y="2646"/>
                      <a:pt x="5189" y="2612"/>
                      <a:pt x="4676" y="2567"/>
                    </a:cubicBezTo>
                    <a:cubicBezTo>
                      <a:pt x="4721" y="2746"/>
                      <a:pt x="4743" y="2947"/>
                      <a:pt x="4743" y="3170"/>
                    </a:cubicBezTo>
                    <a:lnTo>
                      <a:pt x="4743" y="3337"/>
                    </a:lnTo>
                    <a:lnTo>
                      <a:pt x="3906" y="3337"/>
                    </a:lnTo>
                    <a:cubicBezTo>
                      <a:pt x="3415" y="3360"/>
                      <a:pt x="3036" y="3337"/>
                      <a:pt x="2768" y="3270"/>
                    </a:cubicBezTo>
                    <a:lnTo>
                      <a:pt x="2768" y="3940"/>
                    </a:lnTo>
                    <a:cubicBezTo>
                      <a:pt x="3058" y="3895"/>
                      <a:pt x="3437" y="3873"/>
                      <a:pt x="3906" y="3873"/>
                    </a:cubicBezTo>
                    <a:lnTo>
                      <a:pt x="4743" y="3873"/>
                    </a:lnTo>
                    <a:close/>
                    <a:moveTo>
                      <a:pt x="8258" y="7655"/>
                    </a:moveTo>
                    <a:lnTo>
                      <a:pt x="8258" y="7421"/>
                    </a:lnTo>
                    <a:cubicBezTo>
                      <a:pt x="8660" y="7176"/>
                      <a:pt x="8961" y="7008"/>
                      <a:pt x="9162" y="6919"/>
                    </a:cubicBezTo>
                    <a:cubicBezTo>
                      <a:pt x="9340" y="6830"/>
                      <a:pt x="9597" y="6785"/>
                      <a:pt x="9932" y="6785"/>
                    </a:cubicBezTo>
                    <a:lnTo>
                      <a:pt x="9932" y="6082"/>
                    </a:lnTo>
                    <a:cubicBezTo>
                      <a:pt x="9664" y="6149"/>
                      <a:pt x="9318" y="6171"/>
                      <a:pt x="8894" y="6149"/>
                    </a:cubicBezTo>
                    <a:lnTo>
                      <a:pt x="6651" y="6149"/>
                    </a:lnTo>
                    <a:cubicBezTo>
                      <a:pt x="6472" y="6149"/>
                      <a:pt x="6260" y="6138"/>
                      <a:pt x="6015" y="6115"/>
                    </a:cubicBezTo>
                    <a:cubicBezTo>
                      <a:pt x="5859" y="6094"/>
                      <a:pt x="5747" y="6082"/>
                      <a:pt x="5680" y="6082"/>
                    </a:cubicBezTo>
                    <a:lnTo>
                      <a:pt x="5680" y="6752"/>
                    </a:lnTo>
                    <a:lnTo>
                      <a:pt x="5781" y="6752"/>
                    </a:lnTo>
                    <a:cubicBezTo>
                      <a:pt x="6093" y="6707"/>
                      <a:pt x="6394" y="6685"/>
                      <a:pt x="6685" y="6685"/>
                    </a:cubicBezTo>
                    <a:lnTo>
                      <a:pt x="8559" y="6685"/>
                    </a:lnTo>
                    <a:cubicBezTo>
                      <a:pt x="8269" y="6863"/>
                      <a:pt x="7945" y="7031"/>
                      <a:pt x="7588" y="7187"/>
                    </a:cubicBezTo>
                    <a:lnTo>
                      <a:pt x="7588" y="7655"/>
                    </a:lnTo>
                    <a:lnTo>
                      <a:pt x="6383" y="7655"/>
                    </a:lnTo>
                    <a:cubicBezTo>
                      <a:pt x="5892" y="7678"/>
                      <a:pt x="5546" y="7655"/>
                      <a:pt x="5346" y="7588"/>
                    </a:cubicBezTo>
                    <a:lnTo>
                      <a:pt x="5346" y="8258"/>
                    </a:lnTo>
                    <a:cubicBezTo>
                      <a:pt x="5457" y="8236"/>
                      <a:pt x="5580" y="8224"/>
                      <a:pt x="5714" y="8224"/>
                    </a:cubicBezTo>
                    <a:cubicBezTo>
                      <a:pt x="5825" y="8202"/>
                      <a:pt x="6049" y="8191"/>
                      <a:pt x="6383" y="8191"/>
                    </a:cubicBezTo>
                    <a:lnTo>
                      <a:pt x="7588" y="8191"/>
                    </a:lnTo>
                    <a:lnTo>
                      <a:pt x="7588" y="9162"/>
                    </a:lnTo>
                    <a:cubicBezTo>
                      <a:pt x="7633" y="9452"/>
                      <a:pt x="7309" y="9541"/>
                      <a:pt x="6618" y="9430"/>
                    </a:cubicBezTo>
                    <a:cubicBezTo>
                      <a:pt x="6773" y="9675"/>
                      <a:pt x="6885" y="9954"/>
                      <a:pt x="6952" y="10266"/>
                    </a:cubicBezTo>
                    <a:cubicBezTo>
                      <a:pt x="7800" y="10154"/>
                      <a:pt x="8235" y="9976"/>
                      <a:pt x="8258" y="9731"/>
                    </a:cubicBezTo>
                    <a:lnTo>
                      <a:pt x="8258" y="8191"/>
                    </a:lnTo>
                    <a:lnTo>
                      <a:pt x="9229" y="8191"/>
                    </a:lnTo>
                    <a:cubicBezTo>
                      <a:pt x="9630" y="8191"/>
                      <a:pt x="9965" y="8213"/>
                      <a:pt x="10233" y="8258"/>
                    </a:cubicBezTo>
                    <a:lnTo>
                      <a:pt x="10233" y="7588"/>
                    </a:lnTo>
                    <a:cubicBezTo>
                      <a:pt x="10099" y="7633"/>
                      <a:pt x="9764" y="7655"/>
                      <a:pt x="9229" y="7655"/>
                    </a:cubicBezTo>
                    <a:lnTo>
                      <a:pt x="8258" y="7655"/>
                    </a:lnTo>
                    <a:close/>
                    <a:moveTo>
                      <a:pt x="4977" y="6517"/>
                    </a:moveTo>
                    <a:cubicBezTo>
                      <a:pt x="5022" y="6450"/>
                      <a:pt x="5111" y="6350"/>
                      <a:pt x="5245" y="6216"/>
                    </a:cubicBezTo>
                    <a:cubicBezTo>
                      <a:pt x="5447" y="5960"/>
                      <a:pt x="5647" y="5703"/>
                      <a:pt x="5848" y="5446"/>
                    </a:cubicBezTo>
                    <a:lnTo>
                      <a:pt x="8994" y="5446"/>
                    </a:lnTo>
                    <a:cubicBezTo>
                      <a:pt x="9440" y="5446"/>
                      <a:pt x="9798" y="5468"/>
                      <a:pt x="10065" y="5513"/>
                    </a:cubicBezTo>
                    <a:lnTo>
                      <a:pt x="10065" y="4843"/>
                    </a:lnTo>
                    <a:cubicBezTo>
                      <a:pt x="9798" y="4910"/>
                      <a:pt x="9418" y="4933"/>
                      <a:pt x="8927" y="4910"/>
                    </a:cubicBezTo>
                    <a:lnTo>
                      <a:pt x="6182" y="4910"/>
                    </a:lnTo>
                    <a:cubicBezTo>
                      <a:pt x="6249" y="4776"/>
                      <a:pt x="6350" y="4665"/>
                      <a:pt x="6484" y="4576"/>
                    </a:cubicBezTo>
                    <a:cubicBezTo>
                      <a:pt x="6528" y="4554"/>
                      <a:pt x="6562" y="4520"/>
                      <a:pt x="6584" y="4475"/>
                    </a:cubicBezTo>
                    <a:lnTo>
                      <a:pt x="6115" y="4341"/>
                    </a:lnTo>
                    <a:cubicBezTo>
                      <a:pt x="6004" y="4297"/>
                      <a:pt x="5881" y="4252"/>
                      <a:pt x="5747" y="4207"/>
                    </a:cubicBezTo>
                    <a:cubicBezTo>
                      <a:pt x="5702" y="4364"/>
                      <a:pt x="5591" y="4598"/>
                      <a:pt x="5413" y="4910"/>
                    </a:cubicBezTo>
                    <a:lnTo>
                      <a:pt x="3873" y="4910"/>
                    </a:lnTo>
                    <a:cubicBezTo>
                      <a:pt x="3471" y="4933"/>
                      <a:pt x="3125" y="4922"/>
                      <a:pt x="2835" y="4877"/>
                    </a:cubicBezTo>
                    <a:cubicBezTo>
                      <a:pt x="2812" y="4877"/>
                      <a:pt x="2801" y="4866"/>
                      <a:pt x="2801" y="4843"/>
                    </a:cubicBezTo>
                    <a:lnTo>
                      <a:pt x="2801" y="5513"/>
                    </a:lnTo>
                    <a:lnTo>
                      <a:pt x="2868" y="5513"/>
                    </a:lnTo>
                    <a:cubicBezTo>
                      <a:pt x="3158" y="5468"/>
                      <a:pt x="3493" y="5446"/>
                      <a:pt x="3873" y="5446"/>
                    </a:cubicBezTo>
                    <a:lnTo>
                      <a:pt x="5078" y="5446"/>
                    </a:lnTo>
                    <a:cubicBezTo>
                      <a:pt x="4296" y="6495"/>
                      <a:pt x="3459" y="7254"/>
                      <a:pt x="2567" y="7722"/>
                    </a:cubicBezTo>
                    <a:cubicBezTo>
                      <a:pt x="2768" y="7901"/>
                      <a:pt x="2958" y="8091"/>
                      <a:pt x="3136" y="8291"/>
                    </a:cubicBezTo>
                    <a:cubicBezTo>
                      <a:pt x="3649" y="7890"/>
                      <a:pt x="4028" y="7510"/>
                      <a:pt x="4274" y="7153"/>
                    </a:cubicBezTo>
                    <a:lnTo>
                      <a:pt x="4274" y="9229"/>
                    </a:lnTo>
                    <a:cubicBezTo>
                      <a:pt x="4274" y="9697"/>
                      <a:pt x="4252" y="10020"/>
                      <a:pt x="4207" y="10199"/>
                    </a:cubicBezTo>
                    <a:lnTo>
                      <a:pt x="5044" y="10199"/>
                    </a:lnTo>
                    <a:cubicBezTo>
                      <a:pt x="4977" y="10087"/>
                      <a:pt x="4955" y="9775"/>
                      <a:pt x="4977" y="9262"/>
                    </a:cubicBezTo>
                    <a:lnTo>
                      <a:pt x="4977" y="6517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2" name="iconfont-1186-567130">
                <a:extLst>
                  <a:ext uri="{FF2B5EF4-FFF2-40B4-BE49-F238E27FC236}">
                    <a16:creationId xmlns:a16="http://schemas.microsoft.com/office/drawing/2014/main" id="{DABABB3B-BD43-A9A0-7899-6DFAC6B3771C}"/>
                  </a:ext>
                </a:extLst>
              </p:cNvPr>
              <p:cNvSpPr/>
              <p:nvPr/>
            </p:nvSpPr>
            <p:spPr>
              <a:xfrm>
                <a:off x="6837102" y="541484"/>
                <a:ext cx="238705" cy="238744"/>
              </a:xfrm>
              <a:custGeom>
                <a:avLst/>
                <a:gdLst>
                  <a:gd name="connsiteX0" fmla="*/ 189989 w 573558"/>
                  <a:gd name="connsiteY0" fmla="*/ 218725 h 573651"/>
                  <a:gd name="connsiteX1" fmla="*/ 236588 w 573558"/>
                  <a:gd name="connsiteY1" fmla="*/ 344191 h 573651"/>
                  <a:gd name="connsiteX2" fmla="*/ 143390 w 573558"/>
                  <a:gd name="connsiteY2" fmla="*/ 344191 h 573651"/>
                  <a:gd name="connsiteX3" fmla="*/ 379970 w 573558"/>
                  <a:gd name="connsiteY3" fmla="*/ 164954 h 573651"/>
                  <a:gd name="connsiteX4" fmla="*/ 476752 w 573558"/>
                  <a:gd name="connsiteY4" fmla="*/ 164954 h 573651"/>
                  <a:gd name="connsiteX5" fmla="*/ 430153 w 573558"/>
                  <a:gd name="connsiteY5" fmla="*/ 247403 h 573651"/>
                  <a:gd name="connsiteX6" fmla="*/ 379970 w 573558"/>
                  <a:gd name="connsiteY6" fmla="*/ 164954 h 573651"/>
                  <a:gd name="connsiteX7" fmla="*/ 189991 w 573558"/>
                  <a:gd name="connsiteY7" fmla="*/ 154169 h 573651"/>
                  <a:gd name="connsiteX8" fmla="*/ 168483 w 573558"/>
                  <a:gd name="connsiteY8" fmla="*/ 157754 h 573651"/>
                  <a:gd name="connsiteX9" fmla="*/ 154144 w 573558"/>
                  <a:gd name="connsiteY9" fmla="*/ 172096 h 573651"/>
                  <a:gd name="connsiteX10" fmla="*/ 143390 w 573558"/>
                  <a:gd name="connsiteY10" fmla="*/ 190022 h 573651"/>
                  <a:gd name="connsiteX11" fmla="*/ 136220 w 573558"/>
                  <a:gd name="connsiteY11" fmla="*/ 211534 h 573651"/>
                  <a:gd name="connsiteX12" fmla="*/ 57356 w 573558"/>
                  <a:gd name="connsiteY12" fmla="*/ 412312 h 573651"/>
                  <a:gd name="connsiteX13" fmla="*/ 50187 w 573558"/>
                  <a:gd name="connsiteY13" fmla="*/ 430238 h 573651"/>
                  <a:gd name="connsiteX14" fmla="*/ 46602 w 573558"/>
                  <a:gd name="connsiteY14" fmla="*/ 444580 h 573651"/>
                  <a:gd name="connsiteX15" fmla="*/ 57356 w 573558"/>
                  <a:gd name="connsiteY15" fmla="*/ 462506 h 573651"/>
                  <a:gd name="connsiteX16" fmla="*/ 78864 w 573558"/>
                  <a:gd name="connsiteY16" fmla="*/ 469677 h 573651"/>
                  <a:gd name="connsiteX17" fmla="*/ 100373 w 573558"/>
                  <a:gd name="connsiteY17" fmla="*/ 462506 h 573651"/>
                  <a:gd name="connsiteX18" fmla="*/ 114712 w 573558"/>
                  <a:gd name="connsiteY18" fmla="*/ 430238 h 573651"/>
                  <a:gd name="connsiteX19" fmla="*/ 129051 w 573558"/>
                  <a:gd name="connsiteY19" fmla="*/ 390800 h 573651"/>
                  <a:gd name="connsiteX20" fmla="*/ 254517 w 573558"/>
                  <a:gd name="connsiteY20" fmla="*/ 390800 h 573651"/>
                  <a:gd name="connsiteX21" fmla="*/ 268856 w 573558"/>
                  <a:gd name="connsiteY21" fmla="*/ 430238 h 573651"/>
                  <a:gd name="connsiteX22" fmla="*/ 276025 w 573558"/>
                  <a:gd name="connsiteY22" fmla="*/ 448165 h 573651"/>
                  <a:gd name="connsiteX23" fmla="*/ 283194 w 573558"/>
                  <a:gd name="connsiteY23" fmla="*/ 462506 h 573651"/>
                  <a:gd name="connsiteX24" fmla="*/ 290364 w 573558"/>
                  <a:gd name="connsiteY24" fmla="*/ 466092 h 573651"/>
                  <a:gd name="connsiteX25" fmla="*/ 304703 w 573558"/>
                  <a:gd name="connsiteY25" fmla="*/ 469677 h 573651"/>
                  <a:gd name="connsiteX26" fmla="*/ 326211 w 573558"/>
                  <a:gd name="connsiteY26" fmla="*/ 462506 h 573651"/>
                  <a:gd name="connsiteX27" fmla="*/ 336966 w 573558"/>
                  <a:gd name="connsiteY27" fmla="*/ 444580 h 573651"/>
                  <a:gd name="connsiteX28" fmla="*/ 326211 w 573558"/>
                  <a:gd name="connsiteY28" fmla="*/ 412312 h 573651"/>
                  <a:gd name="connsiteX29" fmla="*/ 247347 w 573558"/>
                  <a:gd name="connsiteY29" fmla="*/ 215119 h 573651"/>
                  <a:gd name="connsiteX30" fmla="*/ 236593 w 573558"/>
                  <a:gd name="connsiteY30" fmla="*/ 190022 h 573651"/>
                  <a:gd name="connsiteX31" fmla="*/ 225839 w 573558"/>
                  <a:gd name="connsiteY31" fmla="*/ 172096 h 573651"/>
                  <a:gd name="connsiteX32" fmla="*/ 211500 w 573558"/>
                  <a:gd name="connsiteY32" fmla="*/ 157754 h 573651"/>
                  <a:gd name="connsiteX33" fmla="*/ 189991 w 573558"/>
                  <a:gd name="connsiteY33" fmla="*/ 154169 h 573651"/>
                  <a:gd name="connsiteX34" fmla="*/ 415830 w 573558"/>
                  <a:gd name="connsiteY34" fmla="*/ 107560 h 573651"/>
                  <a:gd name="connsiteX35" fmla="*/ 405076 w 573558"/>
                  <a:gd name="connsiteY35" fmla="*/ 111145 h 573651"/>
                  <a:gd name="connsiteX36" fmla="*/ 426584 w 573558"/>
                  <a:gd name="connsiteY36" fmla="*/ 146998 h 573651"/>
                  <a:gd name="connsiteX37" fmla="*/ 329796 w 573558"/>
                  <a:gd name="connsiteY37" fmla="*/ 146998 h 573651"/>
                  <a:gd name="connsiteX38" fmla="*/ 329796 w 573558"/>
                  <a:gd name="connsiteY38" fmla="*/ 161340 h 573651"/>
                  <a:gd name="connsiteX39" fmla="*/ 365643 w 573558"/>
                  <a:gd name="connsiteY39" fmla="*/ 161340 h 573651"/>
                  <a:gd name="connsiteX40" fmla="*/ 419415 w 573558"/>
                  <a:gd name="connsiteY40" fmla="*/ 254558 h 573651"/>
                  <a:gd name="connsiteX41" fmla="*/ 322627 w 573558"/>
                  <a:gd name="connsiteY41" fmla="*/ 304752 h 573651"/>
                  <a:gd name="connsiteX42" fmla="*/ 333381 w 573558"/>
                  <a:gd name="connsiteY42" fmla="*/ 322679 h 573651"/>
                  <a:gd name="connsiteX43" fmla="*/ 430169 w 573558"/>
                  <a:gd name="connsiteY43" fmla="*/ 268899 h 573651"/>
                  <a:gd name="connsiteX44" fmla="*/ 523372 w 573558"/>
                  <a:gd name="connsiteY44" fmla="*/ 322679 h 573651"/>
                  <a:gd name="connsiteX45" fmla="*/ 537711 w 573558"/>
                  <a:gd name="connsiteY45" fmla="*/ 304752 h 573651"/>
                  <a:gd name="connsiteX46" fmla="*/ 444508 w 573558"/>
                  <a:gd name="connsiteY46" fmla="*/ 254558 h 573651"/>
                  <a:gd name="connsiteX47" fmla="*/ 494694 w 573558"/>
                  <a:gd name="connsiteY47" fmla="*/ 164925 h 573651"/>
                  <a:gd name="connsiteX48" fmla="*/ 530541 w 573558"/>
                  <a:gd name="connsiteY48" fmla="*/ 164925 h 573651"/>
                  <a:gd name="connsiteX49" fmla="*/ 530541 w 573558"/>
                  <a:gd name="connsiteY49" fmla="*/ 146998 h 573651"/>
                  <a:gd name="connsiteX50" fmla="*/ 440923 w 573558"/>
                  <a:gd name="connsiteY50" fmla="*/ 146998 h 573651"/>
                  <a:gd name="connsiteX51" fmla="*/ 415830 w 573558"/>
                  <a:gd name="connsiteY51" fmla="*/ 107560 h 573651"/>
                  <a:gd name="connsiteX52" fmla="*/ 71695 w 573558"/>
                  <a:gd name="connsiteY52" fmla="*/ 0 h 573651"/>
                  <a:gd name="connsiteX53" fmla="*/ 501863 w 573558"/>
                  <a:gd name="connsiteY53" fmla="*/ 0 h 573651"/>
                  <a:gd name="connsiteX54" fmla="*/ 573558 w 573558"/>
                  <a:gd name="connsiteY54" fmla="*/ 71707 h 573651"/>
                  <a:gd name="connsiteX55" fmla="*/ 573558 w 573558"/>
                  <a:gd name="connsiteY55" fmla="*/ 501945 h 573651"/>
                  <a:gd name="connsiteX56" fmla="*/ 501863 w 573558"/>
                  <a:gd name="connsiteY56" fmla="*/ 573651 h 573651"/>
                  <a:gd name="connsiteX57" fmla="*/ 71695 w 573558"/>
                  <a:gd name="connsiteY57" fmla="*/ 573651 h 573651"/>
                  <a:gd name="connsiteX58" fmla="*/ 0 w 573558"/>
                  <a:gd name="connsiteY58" fmla="*/ 501945 h 573651"/>
                  <a:gd name="connsiteX59" fmla="*/ 0 w 573558"/>
                  <a:gd name="connsiteY59" fmla="*/ 71707 h 573651"/>
                  <a:gd name="connsiteX60" fmla="*/ 71695 w 573558"/>
                  <a:gd name="connsiteY60" fmla="*/ 0 h 573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573558" h="573651">
                    <a:moveTo>
                      <a:pt x="189989" y="218725"/>
                    </a:moveTo>
                    <a:lnTo>
                      <a:pt x="236588" y="344191"/>
                    </a:lnTo>
                    <a:lnTo>
                      <a:pt x="143390" y="344191"/>
                    </a:lnTo>
                    <a:close/>
                    <a:moveTo>
                      <a:pt x="379970" y="164954"/>
                    </a:moveTo>
                    <a:lnTo>
                      <a:pt x="476752" y="164954"/>
                    </a:lnTo>
                    <a:cubicBezTo>
                      <a:pt x="465999" y="197217"/>
                      <a:pt x="451660" y="225895"/>
                      <a:pt x="430153" y="247403"/>
                    </a:cubicBezTo>
                    <a:cubicBezTo>
                      <a:pt x="405061" y="222310"/>
                      <a:pt x="390723" y="197217"/>
                      <a:pt x="379970" y="164954"/>
                    </a:cubicBezTo>
                    <a:close/>
                    <a:moveTo>
                      <a:pt x="189991" y="154169"/>
                    </a:moveTo>
                    <a:cubicBezTo>
                      <a:pt x="182822" y="154169"/>
                      <a:pt x="175652" y="154169"/>
                      <a:pt x="168483" y="157754"/>
                    </a:cubicBezTo>
                    <a:cubicBezTo>
                      <a:pt x="161313" y="161340"/>
                      <a:pt x="157729" y="168510"/>
                      <a:pt x="154144" y="172096"/>
                    </a:cubicBezTo>
                    <a:cubicBezTo>
                      <a:pt x="150559" y="175681"/>
                      <a:pt x="146974" y="182851"/>
                      <a:pt x="143390" y="190022"/>
                    </a:cubicBezTo>
                    <a:cubicBezTo>
                      <a:pt x="139805" y="197193"/>
                      <a:pt x="139805" y="204363"/>
                      <a:pt x="136220" y="211534"/>
                    </a:cubicBezTo>
                    <a:lnTo>
                      <a:pt x="57356" y="412312"/>
                    </a:lnTo>
                    <a:cubicBezTo>
                      <a:pt x="53771" y="419483"/>
                      <a:pt x="53771" y="423068"/>
                      <a:pt x="50187" y="430238"/>
                    </a:cubicBezTo>
                    <a:cubicBezTo>
                      <a:pt x="46602" y="437409"/>
                      <a:pt x="46602" y="440994"/>
                      <a:pt x="46602" y="444580"/>
                    </a:cubicBezTo>
                    <a:cubicBezTo>
                      <a:pt x="46602" y="451750"/>
                      <a:pt x="50187" y="455336"/>
                      <a:pt x="57356" y="462506"/>
                    </a:cubicBezTo>
                    <a:cubicBezTo>
                      <a:pt x="64526" y="466092"/>
                      <a:pt x="71695" y="469677"/>
                      <a:pt x="78864" y="469677"/>
                    </a:cubicBezTo>
                    <a:cubicBezTo>
                      <a:pt x="89619" y="469677"/>
                      <a:pt x="96788" y="469677"/>
                      <a:pt x="100373" y="462506"/>
                    </a:cubicBezTo>
                    <a:cubicBezTo>
                      <a:pt x="103958" y="455336"/>
                      <a:pt x="107542" y="444580"/>
                      <a:pt x="114712" y="430238"/>
                    </a:cubicBezTo>
                    <a:lnTo>
                      <a:pt x="129051" y="390800"/>
                    </a:lnTo>
                    <a:lnTo>
                      <a:pt x="254517" y="390800"/>
                    </a:lnTo>
                    <a:lnTo>
                      <a:pt x="268856" y="430238"/>
                    </a:lnTo>
                    <a:cubicBezTo>
                      <a:pt x="272440" y="437409"/>
                      <a:pt x="272440" y="440994"/>
                      <a:pt x="276025" y="448165"/>
                    </a:cubicBezTo>
                    <a:cubicBezTo>
                      <a:pt x="279610" y="455336"/>
                      <a:pt x="283194" y="458921"/>
                      <a:pt x="283194" y="462506"/>
                    </a:cubicBezTo>
                    <a:cubicBezTo>
                      <a:pt x="283194" y="466092"/>
                      <a:pt x="286779" y="462506"/>
                      <a:pt x="290364" y="466092"/>
                    </a:cubicBezTo>
                    <a:cubicBezTo>
                      <a:pt x="293949" y="469677"/>
                      <a:pt x="301118" y="469677"/>
                      <a:pt x="304703" y="469677"/>
                    </a:cubicBezTo>
                    <a:cubicBezTo>
                      <a:pt x="311872" y="469677"/>
                      <a:pt x="319042" y="469677"/>
                      <a:pt x="326211" y="462506"/>
                    </a:cubicBezTo>
                    <a:cubicBezTo>
                      <a:pt x="329796" y="455336"/>
                      <a:pt x="333381" y="448165"/>
                      <a:pt x="336966" y="444580"/>
                    </a:cubicBezTo>
                    <a:cubicBezTo>
                      <a:pt x="336966" y="437409"/>
                      <a:pt x="333381" y="426653"/>
                      <a:pt x="326211" y="412312"/>
                    </a:cubicBezTo>
                    <a:lnTo>
                      <a:pt x="247347" y="215119"/>
                    </a:lnTo>
                    <a:cubicBezTo>
                      <a:pt x="243762" y="204363"/>
                      <a:pt x="240178" y="197193"/>
                      <a:pt x="236593" y="190022"/>
                    </a:cubicBezTo>
                    <a:cubicBezTo>
                      <a:pt x="233008" y="182851"/>
                      <a:pt x="229423" y="175681"/>
                      <a:pt x="225839" y="172096"/>
                    </a:cubicBezTo>
                    <a:cubicBezTo>
                      <a:pt x="222254" y="164925"/>
                      <a:pt x="218669" y="161340"/>
                      <a:pt x="211500" y="157754"/>
                    </a:cubicBezTo>
                    <a:cubicBezTo>
                      <a:pt x="204330" y="154169"/>
                      <a:pt x="197161" y="154169"/>
                      <a:pt x="189991" y="154169"/>
                    </a:cubicBezTo>
                    <a:close/>
                    <a:moveTo>
                      <a:pt x="415830" y="107560"/>
                    </a:moveTo>
                    <a:lnTo>
                      <a:pt x="405076" y="111145"/>
                    </a:lnTo>
                    <a:cubicBezTo>
                      <a:pt x="412245" y="121901"/>
                      <a:pt x="419415" y="136242"/>
                      <a:pt x="426584" y="146998"/>
                    </a:cubicBezTo>
                    <a:lnTo>
                      <a:pt x="329796" y="146998"/>
                    </a:lnTo>
                    <a:lnTo>
                      <a:pt x="329796" y="161340"/>
                    </a:lnTo>
                    <a:lnTo>
                      <a:pt x="365643" y="161340"/>
                    </a:lnTo>
                    <a:cubicBezTo>
                      <a:pt x="372813" y="197193"/>
                      <a:pt x="394321" y="229461"/>
                      <a:pt x="419415" y="254558"/>
                    </a:cubicBezTo>
                    <a:cubicBezTo>
                      <a:pt x="394321" y="279655"/>
                      <a:pt x="362059" y="293996"/>
                      <a:pt x="322627" y="304752"/>
                    </a:cubicBezTo>
                    <a:lnTo>
                      <a:pt x="333381" y="322679"/>
                    </a:lnTo>
                    <a:cubicBezTo>
                      <a:pt x="372813" y="311923"/>
                      <a:pt x="405076" y="293996"/>
                      <a:pt x="430169" y="268899"/>
                    </a:cubicBezTo>
                    <a:cubicBezTo>
                      <a:pt x="455262" y="290411"/>
                      <a:pt x="483940" y="308338"/>
                      <a:pt x="523372" y="322679"/>
                    </a:cubicBezTo>
                    <a:lnTo>
                      <a:pt x="537711" y="304752"/>
                    </a:lnTo>
                    <a:cubicBezTo>
                      <a:pt x="498279" y="293996"/>
                      <a:pt x="469601" y="276070"/>
                      <a:pt x="444508" y="254558"/>
                    </a:cubicBezTo>
                    <a:cubicBezTo>
                      <a:pt x="466016" y="233046"/>
                      <a:pt x="483940" y="200778"/>
                      <a:pt x="494694" y="164925"/>
                    </a:cubicBezTo>
                    <a:lnTo>
                      <a:pt x="530541" y="164925"/>
                    </a:lnTo>
                    <a:lnTo>
                      <a:pt x="530541" y="146998"/>
                    </a:lnTo>
                    <a:lnTo>
                      <a:pt x="440923" y="146998"/>
                    </a:lnTo>
                    <a:cubicBezTo>
                      <a:pt x="433753" y="132657"/>
                      <a:pt x="422999" y="118316"/>
                      <a:pt x="415830" y="107560"/>
                    </a:cubicBezTo>
                    <a:close/>
                    <a:moveTo>
                      <a:pt x="71695" y="0"/>
                    </a:moveTo>
                    <a:lnTo>
                      <a:pt x="501863" y="0"/>
                    </a:lnTo>
                    <a:cubicBezTo>
                      <a:pt x="544880" y="0"/>
                      <a:pt x="573558" y="32268"/>
                      <a:pt x="573558" y="71707"/>
                    </a:cubicBezTo>
                    <a:lnTo>
                      <a:pt x="573558" y="501945"/>
                    </a:lnTo>
                    <a:cubicBezTo>
                      <a:pt x="573558" y="541383"/>
                      <a:pt x="541296" y="573651"/>
                      <a:pt x="501863" y="573651"/>
                    </a:cubicBezTo>
                    <a:lnTo>
                      <a:pt x="71695" y="573651"/>
                    </a:lnTo>
                    <a:cubicBezTo>
                      <a:pt x="32263" y="573651"/>
                      <a:pt x="0" y="541383"/>
                      <a:pt x="0" y="501945"/>
                    </a:cubicBezTo>
                    <a:lnTo>
                      <a:pt x="0" y="71707"/>
                    </a:lnTo>
                    <a:cubicBezTo>
                      <a:pt x="0" y="32268"/>
                      <a:pt x="32263" y="0"/>
                      <a:pt x="71695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3" name="iconfont-1186-567130">
                <a:extLst>
                  <a:ext uri="{FF2B5EF4-FFF2-40B4-BE49-F238E27FC236}">
                    <a16:creationId xmlns:a16="http://schemas.microsoft.com/office/drawing/2014/main" id="{462E782B-CA66-7026-1493-CBC081FBEFBD}"/>
                  </a:ext>
                </a:extLst>
              </p:cNvPr>
              <p:cNvSpPr/>
              <p:nvPr/>
            </p:nvSpPr>
            <p:spPr>
              <a:xfrm>
                <a:off x="7956984" y="538193"/>
                <a:ext cx="245326" cy="245326"/>
              </a:xfrm>
              <a:custGeom>
                <a:avLst/>
                <a:gdLst>
                  <a:gd name="T0" fmla="*/ 6400 w 12800"/>
                  <a:gd name="T1" fmla="*/ 0 h 12800"/>
                  <a:gd name="T2" fmla="*/ 12800 w 12800"/>
                  <a:gd name="T3" fmla="*/ 6400 h 12800"/>
                  <a:gd name="T4" fmla="*/ 6400 w 12800"/>
                  <a:gd name="T5" fmla="*/ 12800 h 12800"/>
                  <a:gd name="T6" fmla="*/ 0 w 12800"/>
                  <a:gd name="T7" fmla="*/ 6400 h 12800"/>
                  <a:gd name="T8" fmla="*/ 6400 w 12800"/>
                  <a:gd name="T9" fmla="*/ 0 h 12800"/>
                  <a:gd name="T10" fmla="*/ 6400 w 12800"/>
                  <a:gd name="T11" fmla="*/ 2933 h 12800"/>
                  <a:gd name="T12" fmla="*/ 5067 w 12800"/>
                  <a:gd name="T13" fmla="*/ 4267 h 12800"/>
                  <a:gd name="T14" fmla="*/ 5067 w 12800"/>
                  <a:gd name="T15" fmla="*/ 6400 h 12800"/>
                  <a:gd name="T16" fmla="*/ 6400 w 12800"/>
                  <a:gd name="T17" fmla="*/ 7733 h 12800"/>
                  <a:gd name="T18" fmla="*/ 7733 w 12800"/>
                  <a:gd name="T19" fmla="*/ 6400 h 12800"/>
                  <a:gd name="T20" fmla="*/ 7733 w 12800"/>
                  <a:gd name="T21" fmla="*/ 4267 h 12800"/>
                  <a:gd name="T22" fmla="*/ 6400 w 12800"/>
                  <a:gd name="T23" fmla="*/ 2933 h 12800"/>
                  <a:gd name="T24" fmla="*/ 6667 w 12800"/>
                  <a:gd name="T25" fmla="*/ 8786 h 12800"/>
                  <a:gd name="T26" fmla="*/ 8800 w 12800"/>
                  <a:gd name="T27" fmla="*/ 6400 h 12800"/>
                  <a:gd name="T28" fmla="*/ 8533 w 12800"/>
                  <a:gd name="T29" fmla="*/ 6133 h 12800"/>
                  <a:gd name="T30" fmla="*/ 8267 w 12800"/>
                  <a:gd name="T31" fmla="*/ 6400 h 12800"/>
                  <a:gd name="T32" fmla="*/ 6400 w 12800"/>
                  <a:gd name="T33" fmla="*/ 8267 h 12800"/>
                  <a:gd name="T34" fmla="*/ 4533 w 12800"/>
                  <a:gd name="T35" fmla="*/ 6400 h 12800"/>
                  <a:gd name="T36" fmla="*/ 4267 w 12800"/>
                  <a:gd name="T37" fmla="*/ 6133 h 12800"/>
                  <a:gd name="T38" fmla="*/ 4000 w 12800"/>
                  <a:gd name="T39" fmla="*/ 6400 h 12800"/>
                  <a:gd name="T40" fmla="*/ 6133 w 12800"/>
                  <a:gd name="T41" fmla="*/ 8786 h 12800"/>
                  <a:gd name="T42" fmla="*/ 6133 w 12800"/>
                  <a:gd name="T43" fmla="*/ 10400 h 12800"/>
                  <a:gd name="T44" fmla="*/ 6400 w 12800"/>
                  <a:gd name="T45" fmla="*/ 10667 h 12800"/>
                  <a:gd name="T46" fmla="*/ 6667 w 12800"/>
                  <a:gd name="T47" fmla="*/ 10400 h 12800"/>
                  <a:gd name="T48" fmla="*/ 6667 w 12800"/>
                  <a:gd name="T49" fmla="*/ 8800 h 12800"/>
                  <a:gd name="T50" fmla="*/ 6667 w 12800"/>
                  <a:gd name="T51" fmla="*/ 8786 h 128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2800" h="12800">
                    <a:moveTo>
                      <a:pt x="6400" y="0"/>
                    </a:moveTo>
                    <a:cubicBezTo>
                      <a:pt x="9934" y="0"/>
                      <a:pt x="12800" y="2866"/>
                      <a:pt x="12800" y="6400"/>
                    </a:cubicBezTo>
                    <a:cubicBezTo>
                      <a:pt x="12800" y="9934"/>
                      <a:pt x="9934" y="12800"/>
                      <a:pt x="6400" y="12800"/>
                    </a:cubicBezTo>
                    <a:cubicBezTo>
                      <a:pt x="2866" y="12800"/>
                      <a:pt x="0" y="9934"/>
                      <a:pt x="0" y="6400"/>
                    </a:cubicBezTo>
                    <a:cubicBezTo>
                      <a:pt x="0" y="2866"/>
                      <a:pt x="2866" y="0"/>
                      <a:pt x="6400" y="0"/>
                    </a:cubicBezTo>
                    <a:close/>
                    <a:moveTo>
                      <a:pt x="6400" y="2933"/>
                    </a:moveTo>
                    <a:cubicBezTo>
                      <a:pt x="5664" y="2933"/>
                      <a:pt x="5067" y="3530"/>
                      <a:pt x="5067" y="4267"/>
                    </a:cubicBezTo>
                    <a:lnTo>
                      <a:pt x="5067" y="6400"/>
                    </a:lnTo>
                    <a:cubicBezTo>
                      <a:pt x="5067" y="7136"/>
                      <a:pt x="5664" y="7733"/>
                      <a:pt x="6400" y="7733"/>
                    </a:cubicBezTo>
                    <a:cubicBezTo>
                      <a:pt x="7136" y="7733"/>
                      <a:pt x="7733" y="7136"/>
                      <a:pt x="7733" y="6400"/>
                    </a:cubicBezTo>
                    <a:lnTo>
                      <a:pt x="7733" y="4267"/>
                    </a:lnTo>
                    <a:cubicBezTo>
                      <a:pt x="7733" y="3530"/>
                      <a:pt x="7136" y="2933"/>
                      <a:pt x="6400" y="2933"/>
                    </a:cubicBezTo>
                    <a:close/>
                    <a:moveTo>
                      <a:pt x="6667" y="8786"/>
                    </a:moveTo>
                    <a:cubicBezTo>
                      <a:pt x="7882" y="8650"/>
                      <a:pt x="8800" y="7622"/>
                      <a:pt x="8800" y="6400"/>
                    </a:cubicBezTo>
                    <a:cubicBezTo>
                      <a:pt x="8800" y="6253"/>
                      <a:pt x="8681" y="6133"/>
                      <a:pt x="8533" y="6133"/>
                    </a:cubicBezTo>
                    <a:cubicBezTo>
                      <a:pt x="8386" y="6133"/>
                      <a:pt x="8267" y="6253"/>
                      <a:pt x="8267" y="6400"/>
                    </a:cubicBezTo>
                    <a:cubicBezTo>
                      <a:pt x="8267" y="7431"/>
                      <a:pt x="7431" y="8267"/>
                      <a:pt x="6400" y="8267"/>
                    </a:cubicBezTo>
                    <a:cubicBezTo>
                      <a:pt x="5369" y="8267"/>
                      <a:pt x="4533" y="7431"/>
                      <a:pt x="4533" y="6400"/>
                    </a:cubicBezTo>
                    <a:cubicBezTo>
                      <a:pt x="4533" y="6253"/>
                      <a:pt x="4414" y="6133"/>
                      <a:pt x="4267" y="6133"/>
                    </a:cubicBezTo>
                    <a:cubicBezTo>
                      <a:pt x="4119" y="6133"/>
                      <a:pt x="4000" y="6253"/>
                      <a:pt x="4000" y="6400"/>
                    </a:cubicBezTo>
                    <a:cubicBezTo>
                      <a:pt x="4000" y="7622"/>
                      <a:pt x="4918" y="8650"/>
                      <a:pt x="6133" y="8786"/>
                    </a:cubicBezTo>
                    <a:lnTo>
                      <a:pt x="6133" y="10400"/>
                    </a:lnTo>
                    <a:cubicBezTo>
                      <a:pt x="6133" y="10547"/>
                      <a:pt x="6253" y="10667"/>
                      <a:pt x="6400" y="10667"/>
                    </a:cubicBezTo>
                    <a:cubicBezTo>
                      <a:pt x="6547" y="10667"/>
                      <a:pt x="6667" y="10547"/>
                      <a:pt x="6667" y="10400"/>
                    </a:cubicBezTo>
                    <a:lnTo>
                      <a:pt x="6667" y="8800"/>
                    </a:lnTo>
                    <a:lnTo>
                      <a:pt x="6667" y="878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4" name="iconfont-1186-567130">
                <a:extLst>
                  <a:ext uri="{FF2B5EF4-FFF2-40B4-BE49-F238E27FC236}">
                    <a16:creationId xmlns:a16="http://schemas.microsoft.com/office/drawing/2014/main" id="{AA919565-5DFC-BD37-7D6D-5B5FC700ACD4}"/>
                  </a:ext>
                </a:extLst>
              </p:cNvPr>
              <p:cNvSpPr/>
              <p:nvPr/>
            </p:nvSpPr>
            <p:spPr>
              <a:xfrm>
                <a:off x="4497847" y="545316"/>
                <a:ext cx="267144" cy="231080"/>
              </a:xfrm>
              <a:custGeom>
                <a:avLst/>
                <a:gdLst>
                  <a:gd name="connsiteX0" fmla="*/ 526036 w 608229"/>
                  <a:gd name="connsiteY0" fmla="*/ 460365 h 526122"/>
                  <a:gd name="connsiteX1" fmla="*/ 558914 w 608229"/>
                  <a:gd name="connsiteY1" fmla="*/ 460365 h 526122"/>
                  <a:gd name="connsiteX2" fmla="*/ 567133 w 608229"/>
                  <a:gd name="connsiteY2" fmla="*/ 468586 h 526122"/>
                  <a:gd name="connsiteX3" fmla="*/ 558914 w 608229"/>
                  <a:gd name="connsiteY3" fmla="*/ 476807 h 526122"/>
                  <a:gd name="connsiteX4" fmla="*/ 526036 w 608229"/>
                  <a:gd name="connsiteY4" fmla="*/ 476807 h 526122"/>
                  <a:gd name="connsiteX5" fmla="*/ 517817 w 608229"/>
                  <a:gd name="connsiteY5" fmla="*/ 468586 h 526122"/>
                  <a:gd name="connsiteX6" fmla="*/ 526036 w 608229"/>
                  <a:gd name="connsiteY6" fmla="*/ 460365 h 526122"/>
                  <a:gd name="connsiteX7" fmla="*/ 49316 w 608229"/>
                  <a:gd name="connsiteY7" fmla="*/ 460365 h 526122"/>
                  <a:gd name="connsiteX8" fmla="*/ 82194 w 608229"/>
                  <a:gd name="connsiteY8" fmla="*/ 460365 h 526122"/>
                  <a:gd name="connsiteX9" fmla="*/ 90413 w 608229"/>
                  <a:gd name="connsiteY9" fmla="*/ 468586 h 526122"/>
                  <a:gd name="connsiteX10" fmla="*/ 82194 w 608229"/>
                  <a:gd name="connsiteY10" fmla="*/ 476807 h 526122"/>
                  <a:gd name="connsiteX11" fmla="*/ 49316 w 608229"/>
                  <a:gd name="connsiteY11" fmla="*/ 476807 h 526122"/>
                  <a:gd name="connsiteX12" fmla="*/ 41097 w 608229"/>
                  <a:gd name="connsiteY12" fmla="*/ 468586 h 526122"/>
                  <a:gd name="connsiteX13" fmla="*/ 49316 w 608229"/>
                  <a:gd name="connsiteY13" fmla="*/ 460365 h 526122"/>
                  <a:gd name="connsiteX14" fmla="*/ 526036 w 608229"/>
                  <a:gd name="connsiteY14" fmla="*/ 394597 h 526122"/>
                  <a:gd name="connsiteX15" fmla="*/ 558914 w 608229"/>
                  <a:gd name="connsiteY15" fmla="*/ 394597 h 526122"/>
                  <a:gd name="connsiteX16" fmla="*/ 567133 w 608229"/>
                  <a:gd name="connsiteY16" fmla="*/ 402818 h 526122"/>
                  <a:gd name="connsiteX17" fmla="*/ 558914 w 608229"/>
                  <a:gd name="connsiteY17" fmla="*/ 411039 h 526122"/>
                  <a:gd name="connsiteX18" fmla="*/ 526036 w 608229"/>
                  <a:gd name="connsiteY18" fmla="*/ 411039 h 526122"/>
                  <a:gd name="connsiteX19" fmla="*/ 517817 w 608229"/>
                  <a:gd name="connsiteY19" fmla="*/ 402818 h 526122"/>
                  <a:gd name="connsiteX20" fmla="*/ 526036 w 608229"/>
                  <a:gd name="connsiteY20" fmla="*/ 394597 h 526122"/>
                  <a:gd name="connsiteX21" fmla="*/ 49316 w 608229"/>
                  <a:gd name="connsiteY21" fmla="*/ 394597 h 526122"/>
                  <a:gd name="connsiteX22" fmla="*/ 82194 w 608229"/>
                  <a:gd name="connsiteY22" fmla="*/ 394597 h 526122"/>
                  <a:gd name="connsiteX23" fmla="*/ 90413 w 608229"/>
                  <a:gd name="connsiteY23" fmla="*/ 402818 h 526122"/>
                  <a:gd name="connsiteX24" fmla="*/ 82194 w 608229"/>
                  <a:gd name="connsiteY24" fmla="*/ 411039 h 526122"/>
                  <a:gd name="connsiteX25" fmla="*/ 49316 w 608229"/>
                  <a:gd name="connsiteY25" fmla="*/ 411039 h 526122"/>
                  <a:gd name="connsiteX26" fmla="*/ 41097 w 608229"/>
                  <a:gd name="connsiteY26" fmla="*/ 402818 h 526122"/>
                  <a:gd name="connsiteX27" fmla="*/ 49316 w 608229"/>
                  <a:gd name="connsiteY27" fmla="*/ 394597 h 526122"/>
                  <a:gd name="connsiteX28" fmla="*/ 526036 w 608229"/>
                  <a:gd name="connsiteY28" fmla="*/ 328829 h 526122"/>
                  <a:gd name="connsiteX29" fmla="*/ 558914 w 608229"/>
                  <a:gd name="connsiteY29" fmla="*/ 328829 h 526122"/>
                  <a:gd name="connsiteX30" fmla="*/ 567133 w 608229"/>
                  <a:gd name="connsiteY30" fmla="*/ 337050 h 526122"/>
                  <a:gd name="connsiteX31" fmla="*/ 558914 w 608229"/>
                  <a:gd name="connsiteY31" fmla="*/ 345271 h 526122"/>
                  <a:gd name="connsiteX32" fmla="*/ 526036 w 608229"/>
                  <a:gd name="connsiteY32" fmla="*/ 345271 h 526122"/>
                  <a:gd name="connsiteX33" fmla="*/ 517817 w 608229"/>
                  <a:gd name="connsiteY33" fmla="*/ 337050 h 526122"/>
                  <a:gd name="connsiteX34" fmla="*/ 526036 w 608229"/>
                  <a:gd name="connsiteY34" fmla="*/ 328829 h 526122"/>
                  <a:gd name="connsiteX35" fmla="*/ 49316 w 608229"/>
                  <a:gd name="connsiteY35" fmla="*/ 328829 h 526122"/>
                  <a:gd name="connsiteX36" fmla="*/ 82194 w 608229"/>
                  <a:gd name="connsiteY36" fmla="*/ 328829 h 526122"/>
                  <a:gd name="connsiteX37" fmla="*/ 90413 w 608229"/>
                  <a:gd name="connsiteY37" fmla="*/ 337050 h 526122"/>
                  <a:gd name="connsiteX38" fmla="*/ 82194 w 608229"/>
                  <a:gd name="connsiteY38" fmla="*/ 345271 h 526122"/>
                  <a:gd name="connsiteX39" fmla="*/ 49316 w 608229"/>
                  <a:gd name="connsiteY39" fmla="*/ 345271 h 526122"/>
                  <a:gd name="connsiteX40" fmla="*/ 41097 w 608229"/>
                  <a:gd name="connsiteY40" fmla="*/ 337050 h 526122"/>
                  <a:gd name="connsiteX41" fmla="*/ 49316 w 608229"/>
                  <a:gd name="connsiteY41" fmla="*/ 328829 h 526122"/>
                  <a:gd name="connsiteX42" fmla="*/ 526036 w 608229"/>
                  <a:gd name="connsiteY42" fmla="*/ 263060 h 526122"/>
                  <a:gd name="connsiteX43" fmla="*/ 558914 w 608229"/>
                  <a:gd name="connsiteY43" fmla="*/ 263060 h 526122"/>
                  <a:gd name="connsiteX44" fmla="*/ 567133 w 608229"/>
                  <a:gd name="connsiteY44" fmla="*/ 271281 h 526122"/>
                  <a:gd name="connsiteX45" fmla="*/ 558914 w 608229"/>
                  <a:gd name="connsiteY45" fmla="*/ 279502 h 526122"/>
                  <a:gd name="connsiteX46" fmla="*/ 526036 w 608229"/>
                  <a:gd name="connsiteY46" fmla="*/ 279502 h 526122"/>
                  <a:gd name="connsiteX47" fmla="*/ 517817 w 608229"/>
                  <a:gd name="connsiteY47" fmla="*/ 271281 h 526122"/>
                  <a:gd name="connsiteX48" fmla="*/ 526036 w 608229"/>
                  <a:gd name="connsiteY48" fmla="*/ 263060 h 526122"/>
                  <a:gd name="connsiteX49" fmla="*/ 49316 w 608229"/>
                  <a:gd name="connsiteY49" fmla="*/ 263060 h 526122"/>
                  <a:gd name="connsiteX50" fmla="*/ 82194 w 608229"/>
                  <a:gd name="connsiteY50" fmla="*/ 263060 h 526122"/>
                  <a:gd name="connsiteX51" fmla="*/ 90413 w 608229"/>
                  <a:gd name="connsiteY51" fmla="*/ 271281 h 526122"/>
                  <a:gd name="connsiteX52" fmla="*/ 82194 w 608229"/>
                  <a:gd name="connsiteY52" fmla="*/ 279502 h 526122"/>
                  <a:gd name="connsiteX53" fmla="*/ 49316 w 608229"/>
                  <a:gd name="connsiteY53" fmla="*/ 279502 h 526122"/>
                  <a:gd name="connsiteX54" fmla="*/ 41097 w 608229"/>
                  <a:gd name="connsiteY54" fmla="*/ 271281 h 526122"/>
                  <a:gd name="connsiteX55" fmla="*/ 49316 w 608229"/>
                  <a:gd name="connsiteY55" fmla="*/ 263060 h 526122"/>
                  <a:gd name="connsiteX56" fmla="*/ 526036 w 608229"/>
                  <a:gd name="connsiteY56" fmla="*/ 197292 h 526122"/>
                  <a:gd name="connsiteX57" fmla="*/ 558914 w 608229"/>
                  <a:gd name="connsiteY57" fmla="*/ 197292 h 526122"/>
                  <a:gd name="connsiteX58" fmla="*/ 567133 w 608229"/>
                  <a:gd name="connsiteY58" fmla="*/ 205513 h 526122"/>
                  <a:gd name="connsiteX59" fmla="*/ 558914 w 608229"/>
                  <a:gd name="connsiteY59" fmla="*/ 213734 h 526122"/>
                  <a:gd name="connsiteX60" fmla="*/ 526036 w 608229"/>
                  <a:gd name="connsiteY60" fmla="*/ 213734 h 526122"/>
                  <a:gd name="connsiteX61" fmla="*/ 517817 w 608229"/>
                  <a:gd name="connsiteY61" fmla="*/ 205513 h 526122"/>
                  <a:gd name="connsiteX62" fmla="*/ 526036 w 608229"/>
                  <a:gd name="connsiteY62" fmla="*/ 197292 h 526122"/>
                  <a:gd name="connsiteX63" fmla="*/ 49316 w 608229"/>
                  <a:gd name="connsiteY63" fmla="*/ 197292 h 526122"/>
                  <a:gd name="connsiteX64" fmla="*/ 82194 w 608229"/>
                  <a:gd name="connsiteY64" fmla="*/ 197292 h 526122"/>
                  <a:gd name="connsiteX65" fmla="*/ 90413 w 608229"/>
                  <a:gd name="connsiteY65" fmla="*/ 205513 h 526122"/>
                  <a:gd name="connsiteX66" fmla="*/ 82194 w 608229"/>
                  <a:gd name="connsiteY66" fmla="*/ 213734 h 526122"/>
                  <a:gd name="connsiteX67" fmla="*/ 49316 w 608229"/>
                  <a:gd name="connsiteY67" fmla="*/ 213734 h 526122"/>
                  <a:gd name="connsiteX68" fmla="*/ 41097 w 608229"/>
                  <a:gd name="connsiteY68" fmla="*/ 205513 h 526122"/>
                  <a:gd name="connsiteX69" fmla="*/ 49316 w 608229"/>
                  <a:gd name="connsiteY69" fmla="*/ 197292 h 526122"/>
                  <a:gd name="connsiteX70" fmla="*/ 246580 w 608229"/>
                  <a:gd name="connsiteY70" fmla="*/ 188002 h 526122"/>
                  <a:gd name="connsiteX71" fmla="*/ 246580 w 608229"/>
                  <a:gd name="connsiteY71" fmla="*/ 354560 h 526122"/>
                  <a:gd name="connsiteX72" fmla="*/ 371513 w 608229"/>
                  <a:gd name="connsiteY72" fmla="*/ 271281 h 526122"/>
                  <a:gd name="connsiteX73" fmla="*/ 234456 w 608229"/>
                  <a:gd name="connsiteY73" fmla="*/ 165394 h 526122"/>
                  <a:gd name="connsiteX74" fmla="*/ 242922 w 608229"/>
                  <a:gd name="connsiteY74" fmla="*/ 165805 h 526122"/>
                  <a:gd name="connsiteX75" fmla="*/ 390870 w 608229"/>
                  <a:gd name="connsiteY75" fmla="*/ 264458 h 526122"/>
                  <a:gd name="connsiteX76" fmla="*/ 390870 w 608229"/>
                  <a:gd name="connsiteY76" fmla="*/ 278105 h 526122"/>
                  <a:gd name="connsiteX77" fmla="*/ 242922 w 608229"/>
                  <a:gd name="connsiteY77" fmla="*/ 376757 h 526122"/>
                  <a:gd name="connsiteX78" fmla="*/ 230141 w 608229"/>
                  <a:gd name="connsiteY78" fmla="*/ 369934 h 526122"/>
                  <a:gd name="connsiteX79" fmla="*/ 230141 w 608229"/>
                  <a:gd name="connsiteY79" fmla="*/ 172629 h 526122"/>
                  <a:gd name="connsiteX80" fmla="*/ 234456 w 608229"/>
                  <a:gd name="connsiteY80" fmla="*/ 165394 h 526122"/>
                  <a:gd name="connsiteX81" fmla="*/ 526036 w 608229"/>
                  <a:gd name="connsiteY81" fmla="*/ 131524 h 526122"/>
                  <a:gd name="connsiteX82" fmla="*/ 558914 w 608229"/>
                  <a:gd name="connsiteY82" fmla="*/ 131524 h 526122"/>
                  <a:gd name="connsiteX83" fmla="*/ 567133 w 608229"/>
                  <a:gd name="connsiteY83" fmla="*/ 139745 h 526122"/>
                  <a:gd name="connsiteX84" fmla="*/ 558914 w 608229"/>
                  <a:gd name="connsiteY84" fmla="*/ 147966 h 526122"/>
                  <a:gd name="connsiteX85" fmla="*/ 526036 w 608229"/>
                  <a:gd name="connsiteY85" fmla="*/ 147966 h 526122"/>
                  <a:gd name="connsiteX86" fmla="*/ 517817 w 608229"/>
                  <a:gd name="connsiteY86" fmla="*/ 139745 h 526122"/>
                  <a:gd name="connsiteX87" fmla="*/ 526036 w 608229"/>
                  <a:gd name="connsiteY87" fmla="*/ 131524 h 526122"/>
                  <a:gd name="connsiteX88" fmla="*/ 49316 w 608229"/>
                  <a:gd name="connsiteY88" fmla="*/ 131524 h 526122"/>
                  <a:gd name="connsiteX89" fmla="*/ 82194 w 608229"/>
                  <a:gd name="connsiteY89" fmla="*/ 131524 h 526122"/>
                  <a:gd name="connsiteX90" fmla="*/ 90413 w 608229"/>
                  <a:gd name="connsiteY90" fmla="*/ 139745 h 526122"/>
                  <a:gd name="connsiteX91" fmla="*/ 82194 w 608229"/>
                  <a:gd name="connsiteY91" fmla="*/ 147966 h 526122"/>
                  <a:gd name="connsiteX92" fmla="*/ 49316 w 608229"/>
                  <a:gd name="connsiteY92" fmla="*/ 147966 h 526122"/>
                  <a:gd name="connsiteX93" fmla="*/ 41097 w 608229"/>
                  <a:gd name="connsiteY93" fmla="*/ 139745 h 526122"/>
                  <a:gd name="connsiteX94" fmla="*/ 49316 w 608229"/>
                  <a:gd name="connsiteY94" fmla="*/ 131524 h 526122"/>
                  <a:gd name="connsiteX95" fmla="*/ 526036 w 608229"/>
                  <a:gd name="connsiteY95" fmla="*/ 65755 h 526122"/>
                  <a:gd name="connsiteX96" fmla="*/ 558914 w 608229"/>
                  <a:gd name="connsiteY96" fmla="*/ 65755 h 526122"/>
                  <a:gd name="connsiteX97" fmla="*/ 567133 w 608229"/>
                  <a:gd name="connsiteY97" fmla="*/ 73976 h 526122"/>
                  <a:gd name="connsiteX98" fmla="*/ 558914 w 608229"/>
                  <a:gd name="connsiteY98" fmla="*/ 82197 h 526122"/>
                  <a:gd name="connsiteX99" fmla="*/ 526036 w 608229"/>
                  <a:gd name="connsiteY99" fmla="*/ 82197 h 526122"/>
                  <a:gd name="connsiteX100" fmla="*/ 517817 w 608229"/>
                  <a:gd name="connsiteY100" fmla="*/ 73976 h 526122"/>
                  <a:gd name="connsiteX101" fmla="*/ 526036 w 608229"/>
                  <a:gd name="connsiteY101" fmla="*/ 65755 h 526122"/>
                  <a:gd name="connsiteX102" fmla="*/ 49316 w 608229"/>
                  <a:gd name="connsiteY102" fmla="*/ 65755 h 526122"/>
                  <a:gd name="connsiteX103" fmla="*/ 82194 w 608229"/>
                  <a:gd name="connsiteY103" fmla="*/ 65755 h 526122"/>
                  <a:gd name="connsiteX104" fmla="*/ 90413 w 608229"/>
                  <a:gd name="connsiteY104" fmla="*/ 73976 h 526122"/>
                  <a:gd name="connsiteX105" fmla="*/ 82194 w 608229"/>
                  <a:gd name="connsiteY105" fmla="*/ 82197 h 526122"/>
                  <a:gd name="connsiteX106" fmla="*/ 49316 w 608229"/>
                  <a:gd name="connsiteY106" fmla="*/ 82197 h 526122"/>
                  <a:gd name="connsiteX107" fmla="*/ 41097 w 608229"/>
                  <a:gd name="connsiteY107" fmla="*/ 73976 h 526122"/>
                  <a:gd name="connsiteX108" fmla="*/ 49316 w 608229"/>
                  <a:gd name="connsiteY108" fmla="*/ 65755 h 526122"/>
                  <a:gd name="connsiteX109" fmla="*/ 493159 w 608229"/>
                  <a:gd name="connsiteY109" fmla="*/ 16441 h 526122"/>
                  <a:gd name="connsiteX110" fmla="*/ 493159 w 608229"/>
                  <a:gd name="connsiteY110" fmla="*/ 509681 h 526122"/>
                  <a:gd name="connsiteX111" fmla="*/ 583571 w 608229"/>
                  <a:gd name="connsiteY111" fmla="*/ 509681 h 526122"/>
                  <a:gd name="connsiteX112" fmla="*/ 591790 w 608229"/>
                  <a:gd name="connsiteY112" fmla="*/ 501460 h 526122"/>
                  <a:gd name="connsiteX113" fmla="*/ 591790 w 608229"/>
                  <a:gd name="connsiteY113" fmla="*/ 24662 h 526122"/>
                  <a:gd name="connsiteX114" fmla="*/ 583571 w 608229"/>
                  <a:gd name="connsiteY114" fmla="*/ 16441 h 526122"/>
                  <a:gd name="connsiteX115" fmla="*/ 131509 w 608229"/>
                  <a:gd name="connsiteY115" fmla="*/ 16441 h 526122"/>
                  <a:gd name="connsiteX116" fmla="*/ 131509 w 608229"/>
                  <a:gd name="connsiteY116" fmla="*/ 509681 h 526122"/>
                  <a:gd name="connsiteX117" fmla="*/ 476720 w 608229"/>
                  <a:gd name="connsiteY117" fmla="*/ 509681 h 526122"/>
                  <a:gd name="connsiteX118" fmla="*/ 476720 w 608229"/>
                  <a:gd name="connsiteY118" fmla="*/ 16441 h 526122"/>
                  <a:gd name="connsiteX119" fmla="*/ 24658 w 608229"/>
                  <a:gd name="connsiteY119" fmla="*/ 16441 h 526122"/>
                  <a:gd name="connsiteX120" fmla="*/ 16439 w 608229"/>
                  <a:gd name="connsiteY120" fmla="*/ 24662 h 526122"/>
                  <a:gd name="connsiteX121" fmla="*/ 16439 w 608229"/>
                  <a:gd name="connsiteY121" fmla="*/ 501460 h 526122"/>
                  <a:gd name="connsiteX122" fmla="*/ 24658 w 608229"/>
                  <a:gd name="connsiteY122" fmla="*/ 509681 h 526122"/>
                  <a:gd name="connsiteX123" fmla="*/ 115070 w 608229"/>
                  <a:gd name="connsiteY123" fmla="*/ 509681 h 526122"/>
                  <a:gd name="connsiteX124" fmla="*/ 115070 w 608229"/>
                  <a:gd name="connsiteY124" fmla="*/ 16441 h 526122"/>
                  <a:gd name="connsiteX125" fmla="*/ 24658 w 608229"/>
                  <a:gd name="connsiteY125" fmla="*/ 0 h 526122"/>
                  <a:gd name="connsiteX126" fmla="*/ 123290 w 608229"/>
                  <a:gd name="connsiteY126" fmla="*/ 0 h 526122"/>
                  <a:gd name="connsiteX127" fmla="*/ 583571 w 608229"/>
                  <a:gd name="connsiteY127" fmla="*/ 0 h 526122"/>
                  <a:gd name="connsiteX128" fmla="*/ 608229 w 608229"/>
                  <a:gd name="connsiteY128" fmla="*/ 24662 h 526122"/>
                  <a:gd name="connsiteX129" fmla="*/ 608229 w 608229"/>
                  <a:gd name="connsiteY129" fmla="*/ 501460 h 526122"/>
                  <a:gd name="connsiteX130" fmla="*/ 583571 w 608229"/>
                  <a:gd name="connsiteY130" fmla="*/ 526122 h 526122"/>
                  <a:gd name="connsiteX131" fmla="*/ 24658 w 608229"/>
                  <a:gd name="connsiteY131" fmla="*/ 526122 h 526122"/>
                  <a:gd name="connsiteX132" fmla="*/ 0 w 608229"/>
                  <a:gd name="connsiteY132" fmla="*/ 501460 h 526122"/>
                  <a:gd name="connsiteX133" fmla="*/ 0 w 608229"/>
                  <a:gd name="connsiteY133" fmla="*/ 24662 h 526122"/>
                  <a:gd name="connsiteX134" fmla="*/ 24658 w 608229"/>
                  <a:gd name="connsiteY134" fmla="*/ 0 h 526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</a:cxnLst>
                <a:rect l="l" t="t" r="r" b="b"/>
                <a:pathLst>
                  <a:path w="608229" h="526122">
                    <a:moveTo>
                      <a:pt x="526036" y="460365"/>
                    </a:moveTo>
                    <a:lnTo>
                      <a:pt x="558914" y="460365"/>
                    </a:lnTo>
                    <a:cubicBezTo>
                      <a:pt x="563434" y="460365"/>
                      <a:pt x="567133" y="464065"/>
                      <a:pt x="567133" y="468586"/>
                    </a:cubicBezTo>
                    <a:cubicBezTo>
                      <a:pt x="567133" y="473108"/>
                      <a:pt x="563434" y="476807"/>
                      <a:pt x="558914" y="476807"/>
                    </a:cubicBezTo>
                    <a:lnTo>
                      <a:pt x="526036" y="476807"/>
                    </a:lnTo>
                    <a:cubicBezTo>
                      <a:pt x="521516" y="476807"/>
                      <a:pt x="517817" y="473108"/>
                      <a:pt x="517817" y="468586"/>
                    </a:cubicBezTo>
                    <a:cubicBezTo>
                      <a:pt x="517817" y="464065"/>
                      <a:pt x="521516" y="460365"/>
                      <a:pt x="526036" y="460365"/>
                    </a:cubicBezTo>
                    <a:close/>
                    <a:moveTo>
                      <a:pt x="49316" y="460365"/>
                    </a:moveTo>
                    <a:lnTo>
                      <a:pt x="82194" y="460365"/>
                    </a:lnTo>
                    <a:cubicBezTo>
                      <a:pt x="86714" y="460365"/>
                      <a:pt x="90413" y="464065"/>
                      <a:pt x="90413" y="468586"/>
                    </a:cubicBezTo>
                    <a:cubicBezTo>
                      <a:pt x="90413" y="473108"/>
                      <a:pt x="86714" y="476807"/>
                      <a:pt x="82194" y="476807"/>
                    </a:cubicBezTo>
                    <a:lnTo>
                      <a:pt x="49316" y="476807"/>
                    </a:lnTo>
                    <a:cubicBezTo>
                      <a:pt x="44796" y="476807"/>
                      <a:pt x="41097" y="473108"/>
                      <a:pt x="41097" y="468586"/>
                    </a:cubicBezTo>
                    <a:cubicBezTo>
                      <a:pt x="41097" y="464065"/>
                      <a:pt x="44796" y="460365"/>
                      <a:pt x="49316" y="460365"/>
                    </a:cubicBezTo>
                    <a:close/>
                    <a:moveTo>
                      <a:pt x="526036" y="394597"/>
                    </a:moveTo>
                    <a:lnTo>
                      <a:pt x="558914" y="394597"/>
                    </a:lnTo>
                    <a:cubicBezTo>
                      <a:pt x="563434" y="394597"/>
                      <a:pt x="567133" y="398296"/>
                      <a:pt x="567133" y="402818"/>
                    </a:cubicBezTo>
                    <a:cubicBezTo>
                      <a:pt x="567133" y="407339"/>
                      <a:pt x="563434" y="411039"/>
                      <a:pt x="558914" y="411039"/>
                    </a:cubicBezTo>
                    <a:lnTo>
                      <a:pt x="526036" y="411039"/>
                    </a:lnTo>
                    <a:cubicBezTo>
                      <a:pt x="521516" y="411039"/>
                      <a:pt x="517817" y="407339"/>
                      <a:pt x="517817" y="402818"/>
                    </a:cubicBezTo>
                    <a:cubicBezTo>
                      <a:pt x="517817" y="398296"/>
                      <a:pt x="521516" y="394597"/>
                      <a:pt x="526036" y="394597"/>
                    </a:cubicBezTo>
                    <a:close/>
                    <a:moveTo>
                      <a:pt x="49316" y="394597"/>
                    </a:moveTo>
                    <a:lnTo>
                      <a:pt x="82194" y="394597"/>
                    </a:lnTo>
                    <a:cubicBezTo>
                      <a:pt x="86714" y="394597"/>
                      <a:pt x="90413" y="398296"/>
                      <a:pt x="90413" y="402818"/>
                    </a:cubicBezTo>
                    <a:cubicBezTo>
                      <a:pt x="90413" y="407339"/>
                      <a:pt x="86714" y="411039"/>
                      <a:pt x="82194" y="411039"/>
                    </a:cubicBezTo>
                    <a:lnTo>
                      <a:pt x="49316" y="411039"/>
                    </a:lnTo>
                    <a:cubicBezTo>
                      <a:pt x="44796" y="411039"/>
                      <a:pt x="41097" y="407339"/>
                      <a:pt x="41097" y="402818"/>
                    </a:cubicBezTo>
                    <a:cubicBezTo>
                      <a:pt x="41097" y="398296"/>
                      <a:pt x="44796" y="394597"/>
                      <a:pt x="49316" y="394597"/>
                    </a:cubicBezTo>
                    <a:close/>
                    <a:moveTo>
                      <a:pt x="526036" y="328829"/>
                    </a:moveTo>
                    <a:lnTo>
                      <a:pt x="558914" y="328829"/>
                    </a:lnTo>
                    <a:cubicBezTo>
                      <a:pt x="563434" y="328829"/>
                      <a:pt x="567133" y="332528"/>
                      <a:pt x="567133" y="337050"/>
                    </a:cubicBezTo>
                    <a:cubicBezTo>
                      <a:pt x="567133" y="341571"/>
                      <a:pt x="563434" y="345271"/>
                      <a:pt x="558914" y="345271"/>
                    </a:cubicBezTo>
                    <a:lnTo>
                      <a:pt x="526036" y="345271"/>
                    </a:lnTo>
                    <a:cubicBezTo>
                      <a:pt x="521516" y="345271"/>
                      <a:pt x="517817" y="341571"/>
                      <a:pt x="517817" y="337050"/>
                    </a:cubicBezTo>
                    <a:cubicBezTo>
                      <a:pt x="517817" y="332528"/>
                      <a:pt x="521516" y="328829"/>
                      <a:pt x="526036" y="328829"/>
                    </a:cubicBezTo>
                    <a:close/>
                    <a:moveTo>
                      <a:pt x="49316" y="328829"/>
                    </a:moveTo>
                    <a:lnTo>
                      <a:pt x="82194" y="328829"/>
                    </a:lnTo>
                    <a:cubicBezTo>
                      <a:pt x="86714" y="328829"/>
                      <a:pt x="90413" y="332528"/>
                      <a:pt x="90413" y="337050"/>
                    </a:cubicBezTo>
                    <a:cubicBezTo>
                      <a:pt x="90413" y="341571"/>
                      <a:pt x="86714" y="345271"/>
                      <a:pt x="82194" y="345271"/>
                    </a:cubicBezTo>
                    <a:lnTo>
                      <a:pt x="49316" y="345271"/>
                    </a:lnTo>
                    <a:cubicBezTo>
                      <a:pt x="44796" y="345271"/>
                      <a:pt x="41097" y="341571"/>
                      <a:pt x="41097" y="337050"/>
                    </a:cubicBezTo>
                    <a:cubicBezTo>
                      <a:pt x="41097" y="332528"/>
                      <a:pt x="44796" y="328829"/>
                      <a:pt x="49316" y="328829"/>
                    </a:cubicBezTo>
                    <a:close/>
                    <a:moveTo>
                      <a:pt x="526036" y="263060"/>
                    </a:moveTo>
                    <a:lnTo>
                      <a:pt x="558914" y="263060"/>
                    </a:lnTo>
                    <a:cubicBezTo>
                      <a:pt x="563434" y="263060"/>
                      <a:pt x="567133" y="266760"/>
                      <a:pt x="567133" y="271281"/>
                    </a:cubicBezTo>
                    <a:cubicBezTo>
                      <a:pt x="567133" y="275803"/>
                      <a:pt x="563434" y="279502"/>
                      <a:pt x="558914" y="279502"/>
                    </a:cubicBezTo>
                    <a:lnTo>
                      <a:pt x="526036" y="279502"/>
                    </a:lnTo>
                    <a:cubicBezTo>
                      <a:pt x="521516" y="279502"/>
                      <a:pt x="517817" y="275803"/>
                      <a:pt x="517817" y="271281"/>
                    </a:cubicBezTo>
                    <a:cubicBezTo>
                      <a:pt x="517817" y="266760"/>
                      <a:pt x="521516" y="263060"/>
                      <a:pt x="526036" y="263060"/>
                    </a:cubicBezTo>
                    <a:close/>
                    <a:moveTo>
                      <a:pt x="49316" y="263060"/>
                    </a:moveTo>
                    <a:lnTo>
                      <a:pt x="82194" y="263060"/>
                    </a:lnTo>
                    <a:cubicBezTo>
                      <a:pt x="86714" y="263060"/>
                      <a:pt x="90413" y="266760"/>
                      <a:pt x="90413" y="271281"/>
                    </a:cubicBezTo>
                    <a:cubicBezTo>
                      <a:pt x="90413" y="275803"/>
                      <a:pt x="86714" y="279502"/>
                      <a:pt x="82194" y="279502"/>
                    </a:cubicBezTo>
                    <a:lnTo>
                      <a:pt x="49316" y="279502"/>
                    </a:lnTo>
                    <a:cubicBezTo>
                      <a:pt x="44796" y="279502"/>
                      <a:pt x="41097" y="275803"/>
                      <a:pt x="41097" y="271281"/>
                    </a:cubicBezTo>
                    <a:cubicBezTo>
                      <a:pt x="41097" y="266760"/>
                      <a:pt x="44796" y="263060"/>
                      <a:pt x="49316" y="263060"/>
                    </a:cubicBezTo>
                    <a:close/>
                    <a:moveTo>
                      <a:pt x="526036" y="197292"/>
                    </a:moveTo>
                    <a:lnTo>
                      <a:pt x="558914" y="197292"/>
                    </a:lnTo>
                    <a:cubicBezTo>
                      <a:pt x="563434" y="197292"/>
                      <a:pt x="567133" y="200991"/>
                      <a:pt x="567133" y="205513"/>
                    </a:cubicBezTo>
                    <a:cubicBezTo>
                      <a:pt x="567133" y="210034"/>
                      <a:pt x="563434" y="213734"/>
                      <a:pt x="558914" y="213734"/>
                    </a:cubicBezTo>
                    <a:lnTo>
                      <a:pt x="526036" y="213734"/>
                    </a:lnTo>
                    <a:cubicBezTo>
                      <a:pt x="521516" y="213734"/>
                      <a:pt x="517817" y="210034"/>
                      <a:pt x="517817" y="205513"/>
                    </a:cubicBezTo>
                    <a:cubicBezTo>
                      <a:pt x="517817" y="200991"/>
                      <a:pt x="521516" y="197292"/>
                      <a:pt x="526036" y="197292"/>
                    </a:cubicBezTo>
                    <a:close/>
                    <a:moveTo>
                      <a:pt x="49316" y="197292"/>
                    </a:moveTo>
                    <a:lnTo>
                      <a:pt x="82194" y="197292"/>
                    </a:lnTo>
                    <a:cubicBezTo>
                      <a:pt x="86714" y="197292"/>
                      <a:pt x="90413" y="200991"/>
                      <a:pt x="90413" y="205513"/>
                    </a:cubicBezTo>
                    <a:cubicBezTo>
                      <a:pt x="90413" y="210034"/>
                      <a:pt x="86714" y="213734"/>
                      <a:pt x="82194" y="213734"/>
                    </a:cubicBezTo>
                    <a:lnTo>
                      <a:pt x="49316" y="213734"/>
                    </a:lnTo>
                    <a:cubicBezTo>
                      <a:pt x="44796" y="213734"/>
                      <a:pt x="41097" y="210034"/>
                      <a:pt x="41097" y="205513"/>
                    </a:cubicBezTo>
                    <a:cubicBezTo>
                      <a:pt x="41097" y="200991"/>
                      <a:pt x="44796" y="197292"/>
                      <a:pt x="49316" y="197292"/>
                    </a:cubicBezTo>
                    <a:close/>
                    <a:moveTo>
                      <a:pt x="246580" y="188002"/>
                    </a:moveTo>
                    <a:lnTo>
                      <a:pt x="246580" y="354560"/>
                    </a:lnTo>
                    <a:lnTo>
                      <a:pt x="371513" y="271281"/>
                    </a:lnTo>
                    <a:close/>
                    <a:moveTo>
                      <a:pt x="234456" y="165394"/>
                    </a:moveTo>
                    <a:cubicBezTo>
                      <a:pt x="237128" y="163956"/>
                      <a:pt x="240374" y="164120"/>
                      <a:pt x="242922" y="165805"/>
                    </a:cubicBezTo>
                    <a:lnTo>
                      <a:pt x="390870" y="264458"/>
                    </a:lnTo>
                    <a:cubicBezTo>
                      <a:pt x="395719" y="267705"/>
                      <a:pt x="395719" y="274857"/>
                      <a:pt x="390870" y="278105"/>
                    </a:cubicBezTo>
                    <a:lnTo>
                      <a:pt x="242922" y="376757"/>
                    </a:lnTo>
                    <a:cubicBezTo>
                      <a:pt x="237456" y="380416"/>
                      <a:pt x="230141" y="376511"/>
                      <a:pt x="230141" y="369934"/>
                    </a:cubicBezTo>
                    <a:lnTo>
                      <a:pt x="230141" y="172629"/>
                    </a:lnTo>
                    <a:cubicBezTo>
                      <a:pt x="230141" y="169587"/>
                      <a:pt x="231785" y="166833"/>
                      <a:pt x="234456" y="165394"/>
                    </a:cubicBezTo>
                    <a:close/>
                    <a:moveTo>
                      <a:pt x="526036" y="131524"/>
                    </a:moveTo>
                    <a:lnTo>
                      <a:pt x="558914" y="131524"/>
                    </a:lnTo>
                    <a:cubicBezTo>
                      <a:pt x="563434" y="131524"/>
                      <a:pt x="567133" y="135223"/>
                      <a:pt x="567133" y="139745"/>
                    </a:cubicBezTo>
                    <a:cubicBezTo>
                      <a:pt x="567133" y="144266"/>
                      <a:pt x="563434" y="147966"/>
                      <a:pt x="558914" y="147966"/>
                    </a:cubicBezTo>
                    <a:lnTo>
                      <a:pt x="526036" y="147966"/>
                    </a:lnTo>
                    <a:cubicBezTo>
                      <a:pt x="521516" y="147966"/>
                      <a:pt x="517817" y="144266"/>
                      <a:pt x="517817" y="139745"/>
                    </a:cubicBezTo>
                    <a:cubicBezTo>
                      <a:pt x="517817" y="135223"/>
                      <a:pt x="521516" y="131524"/>
                      <a:pt x="526036" y="131524"/>
                    </a:cubicBezTo>
                    <a:close/>
                    <a:moveTo>
                      <a:pt x="49316" y="131524"/>
                    </a:moveTo>
                    <a:lnTo>
                      <a:pt x="82194" y="131524"/>
                    </a:lnTo>
                    <a:cubicBezTo>
                      <a:pt x="86714" y="131524"/>
                      <a:pt x="90413" y="135223"/>
                      <a:pt x="90413" y="139745"/>
                    </a:cubicBezTo>
                    <a:cubicBezTo>
                      <a:pt x="90413" y="144266"/>
                      <a:pt x="86714" y="147966"/>
                      <a:pt x="82194" y="147966"/>
                    </a:cubicBezTo>
                    <a:lnTo>
                      <a:pt x="49316" y="147966"/>
                    </a:lnTo>
                    <a:cubicBezTo>
                      <a:pt x="44796" y="147966"/>
                      <a:pt x="41097" y="144266"/>
                      <a:pt x="41097" y="139745"/>
                    </a:cubicBezTo>
                    <a:cubicBezTo>
                      <a:pt x="41097" y="135223"/>
                      <a:pt x="44796" y="131524"/>
                      <a:pt x="49316" y="131524"/>
                    </a:cubicBezTo>
                    <a:close/>
                    <a:moveTo>
                      <a:pt x="526036" y="65755"/>
                    </a:moveTo>
                    <a:lnTo>
                      <a:pt x="558914" y="65755"/>
                    </a:lnTo>
                    <a:cubicBezTo>
                      <a:pt x="563434" y="65755"/>
                      <a:pt x="567133" y="69455"/>
                      <a:pt x="567133" y="73976"/>
                    </a:cubicBezTo>
                    <a:cubicBezTo>
                      <a:pt x="567133" y="78498"/>
                      <a:pt x="563434" y="82197"/>
                      <a:pt x="558914" y="82197"/>
                    </a:cubicBezTo>
                    <a:lnTo>
                      <a:pt x="526036" y="82197"/>
                    </a:lnTo>
                    <a:cubicBezTo>
                      <a:pt x="521516" y="82197"/>
                      <a:pt x="517817" y="78498"/>
                      <a:pt x="517817" y="73976"/>
                    </a:cubicBezTo>
                    <a:cubicBezTo>
                      <a:pt x="517817" y="69455"/>
                      <a:pt x="521516" y="65755"/>
                      <a:pt x="526036" y="65755"/>
                    </a:cubicBezTo>
                    <a:close/>
                    <a:moveTo>
                      <a:pt x="49316" y="65755"/>
                    </a:moveTo>
                    <a:lnTo>
                      <a:pt x="82194" y="65755"/>
                    </a:lnTo>
                    <a:cubicBezTo>
                      <a:pt x="86714" y="65755"/>
                      <a:pt x="90413" y="69455"/>
                      <a:pt x="90413" y="73976"/>
                    </a:cubicBezTo>
                    <a:cubicBezTo>
                      <a:pt x="90413" y="78498"/>
                      <a:pt x="86714" y="82197"/>
                      <a:pt x="82194" y="82197"/>
                    </a:cubicBezTo>
                    <a:lnTo>
                      <a:pt x="49316" y="82197"/>
                    </a:lnTo>
                    <a:cubicBezTo>
                      <a:pt x="44796" y="82197"/>
                      <a:pt x="41097" y="78498"/>
                      <a:pt x="41097" y="73976"/>
                    </a:cubicBezTo>
                    <a:cubicBezTo>
                      <a:pt x="41097" y="69455"/>
                      <a:pt x="44796" y="65755"/>
                      <a:pt x="49316" y="65755"/>
                    </a:cubicBezTo>
                    <a:close/>
                    <a:moveTo>
                      <a:pt x="493159" y="16441"/>
                    </a:moveTo>
                    <a:lnTo>
                      <a:pt x="493159" y="509681"/>
                    </a:lnTo>
                    <a:lnTo>
                      <a:pt x="583571" y="509681"/>
                    </a:lnTo>
                    <a:cubicBezTo>
                      <a:pt x="588708" y="509681"/>
                      <a:pt x="591790" y="506598"/>
                      <a:pt x="591790" y="501460"/>
                    </a:cubicBezTo>
                    <a:lnTo>
                      <a:pt x="591790" y="24662"/>
                    </a:lnTo>
                    <a:cubicBezTo>
                      <a:pt x="591790" y="19524"/>
                      <a:pt x="588708" y="16441"/>
                      <a:pt x="583571" y="16441"/>
                    </a:cubicBezTo>
                    <a:close/>
                    <a:moveTo>
                      <a:pt x="131509" y="16441"/>
                    </a:moveTo>
                    <a:lnTo>
                      <a:pt x="131509" y="509681"/>
                    </a:lnTo>
                    <a:lnTo>
                      <a:pt x="476720" y="509681"/>
                    </a:lnTo>
                    <a:lnTo>
                      <a:pt x="476720" y="16441"/>
                    </a:lnTo>
                    <a:close/>
                    <a:moveTo>
                      <a:pt x="24658" y="16441"/>
                    </a:moveTo>
                    <a:cubicBezTo>
                      <a:pt x="19521" y="16441"/>
                      <a:pt x="16439" y="19524"/>
                      <a:pt x="16439" y="24662"/>
                    </a:cubicBezTo>
                    <a:lnTo>
                      <a:pt x="16439" y="501460"/>
                    </a:lnTo>
                    <a:cubicBezTo>
                      <a:pt x="16439" y="506598"/>
                      <a:pt x="19521" y="509681"/>
                      <a:pt x="24658" y="509681"/>
                    </a:cubicBezTo>
                    <a:lnTo>
                      <a:pt x="115070" y="509681"/>
                    </a:lnTo>
                    <a:lnTo>
                      <a:pt x="115070" y="16441"/>
                    </a:lnTo>
                    <a:close/>
                    <a:moveTo>
                      <a:pt x="24658" y="0"/>
                    </a:moveTo>
                    <a:lnTo>
                      <a:pt x="123290" y="0"/>
                    </a:lnTo>
                    <a:lnTo>
                      <a:pt x="583571" y="0"/>
                    </a:lnTo>
                    <a:cubicBezTo>
                      <a:pt x="597873" y="0"/>
                      <a:pt x="608229" y="10358"/>
                      <a:pt x="608229" y="24662"/>
                    </a:cubicBezTo>
                    <a:lnTo>
                      <a:pt x="608229" y="501460"/>
                    </a:lnTo>
                    <a:cubicBezTo>
                      <a:pt x="608229" y="515764"/>
                      <a:pt x="597873" y="526122"/>
                      <a:pt x="583571" y="526122"/>
                    </a:cubicBezTo>
                    <a:lnTo>
                      <a:pt x="24658" y="526122"/>
                    </a:lnTo>
                    <a:cubicBezTo>
                      <a:pt x="10356" y="526122"/>
                      <a:pt x="0" y="515764"/>
                      <a:pt x="0" y="501460"/>
                    </a:cubicBezTo>
                    <a:lnTo>
                      <a:pt x="0" y="24662"/>
                    </a:lnTo>
                    <a:cubicBezTo>
                      <a:pt x="0" y="10358"/>
                      <a:pt x="10356" y="0"/>
                      <a:pt x="24658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solidFill>
                  <a:srgbClr val="0070C0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5" name="iconfont-1186-567130">
                <a:extLst>
                  <a:ext uri="{FF2B5EF4-FFF2-40B4-BE49-F238E27FC236}">
                    <a16:creationId xmlns:a16="http://schemas.microsoft.com/office/drawing/2014/main" id="{4C99257A-6C1A-A86F-213E-69A3B983D968}"/>
                  </a:ext>
                </a:extLst>
              </p:cNvPr>
              <p:cNvSpPr/>
              <p:nvPr/>
            </p:nvSpPr>
            <p:spPr>
              <a:xfrm>
                <a:off x="5646168" y="548602"/>
                <a:ext cx="309757" cy="224508"/>
              </a:xfrm>
              <a:custGeom>
                <a:avLst/>
                <a:gdLst>
                  <a:gd name="T0" fmla="*/ 519 w 522"/>
                  <a:gd name="T1" fmla="*/ 124 h 379"/>
                  <a:gd name="T2" fmla="*/ 508 w 522"/>
                  <a:gd name="T3" fmla="*/ 119 h 379"/>
                  <a:gd name="T4" fmla="*/ 458 w 522"/>
                  <a:gd name="T5" fmla="*/ 119 h 379"/>
                  <a:gd name="T6" fmla="*/ 410 w 522"/>
                  <a:gd name="T7" fmla="*/ 42 h 379"/>
                  <a:gd name="T8" fmla="*/ 112 w 522"/>
                  <a:gd name="T9" fmla="*/ 42 h 379"/>
                  <a:gd name="T10" fmla="*/ 65 w 522"/>
                  <a:gd name="T11" fmla="*/ 119 h 379"/>
                  <a:gd name="T12" fmla="*/ 14 w 522"/>
                  <a:gd name="T13" fmla="*/ 119 h 379"/>
                  <a:gd name="T14" fmla="*/ 4 w 522"/>
                  <a:gd name="T15" fmla="*/ 124 h 379"/>
                  <a:gd name="T16" fmla="*/ 1 w 522"/>
                  <a:gd name="T17" fmla="*/ 135 h 379"/>
                  <a:gd name="T18" fmla="*/ 9 w 522"/>
                  <a:gd name="T19" fmla="*/ 172 h 379"/>
                  <a:gd name="T20" fmla="*/ 22 w 522"/>
                  <a:gd name="T21" fmla="*/ 182 h 379"/>
                  <a:gd name="T22" fmla="*/ 37 w 522"/>
                  <a:gd name="T23" fmla="*/ 182 h 379"/>
                  <a:gd name="T24" fmla="*/ 15 w 522"/>
                  <a:gd name="T25" fmla="*/ 241 h 379"/>
                  <a:gd name="T26" fmla="*/ 43 w 522"/>
                  <a:gd name="T27" fmla="*/ 307 h 379"/>
                  <a:gd name="T28" fmla="*/ 44 w 522"/>
                  <a:gd name="T29" fmla="*/ 308 h 379"/>
                  <a:gd name="T30" fmla="*/ 44 w 522"/>
                  <a:gd name="T31" fmla="*/ 359 h 379"/>
                  <a:gd name="T32" fmla="*/ 64 w 522"/>
                  <a:gd name="T33" fmla="*/ 379 h 379"/>
                  <a:gd name="T34" fmla="*/ 110 w 522"/>
                  <a:gd name="T35" fmla="*/ 379 h 379"/>
                  <a:gd name="T36" fmla="*/ 130 w 522"/>
                  <a:gd name="T37" fmla="*/ 359 h 379"/>
                  <a:gd name="T38" fmla="*/ 130 w 522"/>
                  <a:gd name="T39" fmla="*/ 338 h 379"/>
                  <a:gd name="T40" fmla="*/ 392 w 522"/>
                  <a:gd name="T41" fmla="*/ 338 h 379"/>
                  <a:gd name="T42" fmla="*/ 392 w 522"/>
                  <a:gd name="T43" fmla="*/ 359 h 379"/>
                  <a:gd name="T44" fmla="*/ 412 w 522"/>
                  <a:gd name="T45" fmla="*/ 379 h 379"/>
                  <a:gd name="T46" fmla="*/ 459 w 522"/>
                  <a:gd name="T47" fmla="*/ 379 h 379"/>
                  <a:gd name="T48" fmla="*/ 479 w 522"/>
                  <a:gd name="T49" fmla="*/ 359 h 379"/>
                  <a:gd name="T50" fmla="*/ 479 w 522"/>
                  <a:gd name="T51" fmla="*/ 309 h 379"/>
                  <a:gd name="T52" fmla="*/ 508 w 522"/>
                  <a:gd name="T53" fmla="*/ 243 h 379"/>
                  <a:gd name="T54" fmla="*/ 485 w 522"/>
                  <a:gd name="T55" fmla="*/ 182 h 379"/>
                  <a:gd name="T56" fmla="*/ 501 w 522"/>
                  <a:gd name="T57" fmla="*/ 182 h 379"/>
                  <a:gd name="T58" fmla="*/ 514 w 522"/>
                  <a:gd name="T59" fmla="*/ 172 h 379"/>
                  <a:gd name="T60" fmla="*/ 521 w 522"/>
                  <a:gd name="T61" fmla="*/ 135 h 379"/>
                  <a:gd name="T62" fmla="*/ 519 w 522"/>
                  <a:gd name="T63" fmla="*/ 124 h 379"/>
                  <a:gd name="T64" fmla="*/ 134 w 522"/>
                  <a:gd name="T65" fmla="*/ 75 h 379"/>
                  <a:gd name="T66" fmla="*/ 388 w 522"/>
                  <a:gd name="T67" fmla="*/ 75 h 379"/>
                  <a:gd name="T68" fmla="*/ 423 w 522"/>
                  <a:gd name="T69" fmla="*/ 140 h 379"/>
                  <a:gd name="T70" fmla="*/ 100 w 522"/>
                  <a:gd name="T71" fmla="*/ 140 h 379"/>
                  <a:gd name="T72" fmla="*/ 134 w 522"/>
                  <a:gd name="T73" fmla="*/ 75 h 379"/>
                  <a:gd name="T74" fmla="*/ 74 w 522"/>
                  <a:gd name="T75" fmla="*/ 246 h 379"/>
                  <a:gd name="T76" fmla="*/ 114 w 522"/>
                  <a:gd name="T77" fmla="*/ 207 h 379"/>
                  <a:gd name="T78" fmla="*/ 153 w 522"/>
                  <a:gd name="T79" fmla="*/ 246 h 379"/>
                  <a:gd name="T80" fmla="*/ 114 w 522"/>
                  <a:gd name="T81" fmla="*/ 285 h 379"/>
                  <a:gd name="T82" fmla="*/ 74 w 522"/>
                  <a:gd name="T83" fmla="*/ 246 h 379"/>
                  <a:gd name="T84" fmla="*/ 409 w 522"/>
                  <a:gd name="T85" fmla="*/ 285 h 379"/>
                  <a:gd name="T86" fmla="*/ 370 w 522"/>
                  <a:gd name="T87" fmla="*/ 246 h 379"/>
                  <a:gd name="T88" fmla="*/ 409 w 522"/>
                  <a:gd name="T89" fmla="*/ 207 h 379"/>
                  <a:gd name="T90" fmla="*/ 449 w 522"/>
                  <a:gd name="T91" fmla="*/ 246 h 379"/>
                  <a:gd name="T92" fmla="*/ 409 w 522"/>
                  <a:gd name="T93" fmla="*/ 285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2" h="379">
                    <a:moveTo>
                      <a:pt x="519" y="124"/>
                    </a:moveTo>
                    <a:cubicBezTo>
                      <a:pt x="516" y="121"/>
                      <a:pt x="512" y="119"/>
                      <a:pt x="508" y="119"/>
                    </a:cubicBezTo>
                    <a:lnTo>
                      <a:pt x="458" y="119"/>
                    </a:lnTo>
                    <a:cubicBezTo>
                      <a:pt x="445" y="86"/>
                      <a:pt x="429" y="54"/>
                      <a:pt x="410" y="42"/>
                    </a:cubicBezTo>
                    <a:cubicBezTo>
                      <a:pt x="346" y="0"/>
                      <a:pt x="176" y="0"/>
                      <a:pt x="112" y="42"/>
                    </a:cubicBezTo>
                    <a:cubicBezTo>
                      <a:pt x="94" y="54"/>
                      <a:pt x="78" y="86"/>
                      <a:pt x="65" y="119"/>
                    </a:cubicBezTo>
                    <a:lnTo>
                      <a:pt x="14" y="119"/>
                    </a:lnTo>
                    <a:cubicBezTo>
                      <a:pt x="10" y="119"/>
                      <a:pt x="7" y="121"/>
                      <a:pt x="4" y="124"/>
                    </a:cubicBezTo>
                    <a:cubicBezTo>
                      <a:pt x="1" y="127"/>
                      <a:pt x="0" y="131"/>
                      <a:pt x="1" y="135"/>
                    </a:cubicBezTo>
                    <a:lnTo>
                      <a:pt x="9" y="172"/>
                    </a:lnTo>
                    <a:cubicBezTo>
                      <a:pt x="10" y="178"/>
                      <a:pt x="16" y="182"/>
                      <a:pt x="22" y="182"/>
                    </a:cubicBezTo>
                    <a:lnTo>
                      <a:pt x="37" y="182"/>
                    </a:lnTo>
                    <a:cubicBezTo>
                      <a:pt x="22" y="199"/>
                      <a:pt x="15" y="220"/>
                      <a:pt x="15" y="241"/>
                    </a:cubicBezTo>
                    <a:cubicBezTo>
                      <a:pt x="15" y="267"/>
                      <a:pt x="25" y="291"/>
                      <a:pt x="43" y="307"/>
                    </a:cubicBezTo>
                    <a:cubicBezTo>
                      <a:pt x="43" y="307"/>
                      <a:pt x="43" y="308"/>
                      <a:pt x="44" y="308"/>
                    </a:cubicBezTo>
                    <a:lnTo>
                      <a:pt x="44" y="359"/>
                    </a:lnTo>
                    <a:cubicBezTo>
                      <a:pt x="44" y="370"/>
                      <a:pt x="53" y="379"/>
                      <a:pt x="64" y="379"/>
                    </a:cubicBezTo>
                    <a:lnTo>
                      <a:pt x="110" y="379"/>
                    </a:lnTo>
                    <a:cubicBezTo>
                      <a:pt x="121" y="379"/>
                      <a:pt x="130" y="370"/>
                      <a:pt x="130" y="359"/>
                    </a:cubicBezTo>
                    <a:lnTo>
                      <a:pt x="130" y="338"/>
                    </a:lnTo>
                    <a:lnTo>
                      <a:pt x="392" y="338"/>
                    </a:lnTo>
                    <a:lnTo>
                      <a:pt x="392" y="359"/>
                    </a:lnTo>
                    <a:cubicBezTo>
                      <a:pt x="392" y="370"/>
                      <a:pt x="401" y="379"/>
                      <a:pt x="412" y="379"/>
                    </a:cubicBezTo>
                    <a:lnTo>
                      <a:pt x="459" y="379"/>
                    </a:lnTo>
                    <a:cubicBezTo>
                      <a:pt x="470" y="379"/>
                      <a:pt x="479" y="370"/>
                      <a:pt x="479" y="359"/>
                    </a:cubicBezTo>
                    <a:lnTo>
                      <a:pt x="479" y="309"/>
                    </a:lnTo>
                    <a:cubicBezTo>
                      <a:pt x="498" y="291"/>
                      <a:pt x="507" y="267"/>
                      <a:pt x="508" y="243"/>
                    </a:cubicBezTo>
                    <a:cubicBezTo>
                      <a:pt x="508" y="221"/>
                      <a:pt x="500" y="199"/>
                      <a:pt x="485" y="182"/>
                    </a:cubicBezTo>
                    <a:lnTo>
                      <a:pt x="501" y="182"/>
                    </a:lnTo>
                    <a:cubicBezTo>
                      <a:pt x="507" y="182"/>
                      <a:pt x="513" y="178"/>
                      <a:pt x="514" y="172"/>
                    </a:cubicBezTo>
                    <a:lnTo>
                      <a:pt x="521" y="135"/>
                    </a:lnTo>
                    <a:cubicBezTo>
                      <a:pt x="522" y="131"/>
                      <a:pt x="521" y="127"/>
                      <a:pt x="519" y="124"/>
                    </a:cubicBezTo>
                    <a:close/>
                    <a:moveTo>
                      <a:pt x="134" y="75"/>
                    </a:moveTo>
                    <a:cubicBezTo>
                      <a:pt x="185" y="41"/>
                      <a:pt x="337" y="41"/>
                      <a:pt x="388" y="75"/>
                    </a:cubicBezTo>
                    <a:cubicBezTo>
                      <a:pt x="398" y="82"/>
                      <a:pt x="411" y="108"/>
                      <a:pt x="423" y="140"/>
                    </a:cubicBezTo>
                    <a:lnTo>
                      <a:pt x="100" y="140"/>
                    </a:lnTo>
                    <a:cubicBezTo>
                      <a:pt x="112" y="108"/>
                      <a:pt x="124" y="82"/>
                      <a:pt x="134" y="75"/>
                    </a:cubicBezTo>
                    <a:close/>
                    <a:moveTo>
                      <a:pt x="74" y="246"/>
                    </a:moveTo>
                    <a:cubicBezTo>
                      <a:pt x="74" y="224"/>
                      <a:pt x="92" y="207"/>
                      <a:pt x="114" y="207"/>
                    </a:cubicBezTo>
                    <a:cubicBezTo>
                      <a:pt x="136" y="207"/>
                      <a:pt x="153" y="224"/>
                      <a:pt x="153" y="246"/>
                    </a:cubicBezTo>
                    <a:cubicBezTo>
                      <a:pt x="153" y="268"/>
                      <a:pt x="136" y="285"/>
                      <a:pt x="114" y="285"/>
                    </a:cubicBezTo>
                    <a:cubicBezTo>
                      <a:pt x="92" y="285"/>
                      <a:pt x="74" y="268"/>
                      <a:pt x="74" y="246"/>
                    </a:cubicBezTo>
                    <a:close/>
                    <a:moveTo>
                      <a:pt x="409" y="285"/>
                    </a:moveTo>
                    <a:cubicBezTo>
                      <a:pt x="388" y="285"/>
                      <a:pt x="370" y="268"/>
                      <a:pt x="370" y="246"/>
                    </a:cubicBezTo>
                    <a:cubicBezTo>
                      <a:pt x="370" y="224"/>
                      <a:pt x="388" y="207"/>
                      <a:pt x="409" y="207"/>
                    </a:cubicBezTo>
                    <a:cubicBezTo>
                      <a:pt x="431" y="207"/>
                      <a:pt x="449" y="224"/>
                      <a:pt x="449" y="246"/>
                    </a:cubicBezTo>
                    <a:cubicBezTo>
                      <a:pt x="449" y="268"/>
                      <a:pt x="431" y="285"/>
                      <a:pt x="409" y="285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36" name="dna-chromosome_17883">
                <a:extLst>
                  <a:ext uri="{FF2B5EF4-FFF2-40B4-BE49-F238E27FC236}">
                    <a16:creationId xmlns:a16="http://schemas.microsoft.com/office/drawing/2014/main" id="{F83FB485-CB1F-5D7D-3AF3-374ACA6479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67708" y="518645"/>
                <a:ext cx="241265" cy="242149"/>
              </a:xfrm>
              <a:custGeom>
                <a:avLst/>
                <a:gdLst>
                  <a:gd name="T0" fmla="*/ 5113 w 5264"/>
                  <a:gd name="T1" fmla="*/ 1371 h 5292"/>
                  <a:gd name="T2" fmla="*/ 4908 w 5264"/>
                  <a:gd name="T3" fmla="*/ 1497 h 5292"/>
                  <a:gd name="T4" fmla="*/ 4838 w 5264"/>
                  <a:gd name="T5" fmla="*/ 1670 h 5292"/>
                  <a:gd name="T6" fmla="*/ 3624 w 5264"/>
                  <a:gd name="T7" fmla="*/ 455 h 5292"/>
                  <a:gd name="T8" fmla="*/ 3795 w 5264"/>
                  <a:gd name="T9" fmla="*/ 387 h 5292"/>
                  <a:gd name="T10" fmla="*/ 3716 w 5264"/>
                  <a:gd name="T11" fmla="*/ 53 h 5292"/>
                  <a:gd name="T12" fmla="*/ 2576 w 5264"/>
                  <a:gd name="T13" fmla="*/ 2330 h 5292"/>
                  <a:gd name="T14" fmla="*/ 2313 w 5264"/>
                  <a:gd name="T15" fmla="*/ 2322 h 5292"/>
                  <a:gd name="T16" fmla="*/ 117 w 5264"/>
                  <a:gd name="T17" fmla="*/ 3350 h 5292"/>
                  <a:gd name="T18" fmla="*/ 412 w 5264"/>
                  <a:gd name="T19" fmla="*/ 3527 h 5292"/>
                  <a:gd name="T20" fmla="*/ 563 w 5264"/>
                  <a:gd name="T21" fmla="*/ 3338 h 5292"/>
                  <a:gd name="T22" fmla="*/ 1957 w 5264"/>
                  <a:gd name="T23" fmla="*/ 4732 h 5292"/>
                  <a:gd name="T24" fmla="*/ 1769 w 5264"/>
                  <a:gd name="T25" fmla="*/ 4882 h 5292"/>
                  <a:gd name="T26" fmla="*/ 1944 w 5264"/>
                  <a:gd name="T27" fmla="*/ 5178 h 5292"/>
                  <a:gd name="T28" fmla="*/ 2964 w 5264"/>
                  <a:gd name="T29" fmla="*/ 2718 h 5292"/>
                  <a:gd name="T30" fmla="*/ 5242 w 5264"/>
                  <a:gd name="T31" fmla="*/ 1577 h 5292"/>
                  <a:gd name="T32" fmla="*/ 5113 w 5264"/>
                  <a:gd name="T33" fmla="*/ 1371 h 5292"/>
                  <a:gd name="T34" fmla="*/ 2595 w 5264"/>
                  <a:gd name="T35" fmla="*/ 3439 h 5292"/>
                  <a:gd name="T36" fmla="*/ 1856 w 5264"/>
                  <a:gd name="T37" fmla="*/ 2699 h 5292"/>
                  <a:gd name="T38" fmla="*/ 2616 w 5264"/>
                  <a:gd name="T39" fmla="*/ 2678 h 5292"/>
                  <a:gd name="T40" fmla="*/ 2595 w 5264"/>
                  <a:gd name="T41" fmla="*/ 3439 h 5292"/>
                  <a:gd name="T42" fmla="*/ 1445 w 5264"/>
                  <a:gd name="T43" fmla="*/ 2791 h 5292"/>
                  <a:gd name="T44" fmla="*/ 2499 w 5264"/>
                  <a:gd name="T45" fmla="*/ 3851 h 5292"/>
                  <a:gd name="T46" fmla="*/ 2175 w 5264"/>
                  <a:gd name="T47" fmla="*/ 4478 h 5292"/>
                  <a:gd name="T48" fmla="*/ 818 w 5264"/>
                  <a:gd name="T49" fmla="*/ 3116 h 5292"/>
                  <a:gd name="T50" fmla="*/ 1445 w 5264"/>
                  <a:gd name="T51" fmla="*/ 2791 h 5292"/>
                  <a:gd name="T52" fmla="*/ 2905 w 5264"/>
                  <a:gd name="T53" fmla="*/ 1664 h 5292"/>
                  <a:gd name="T54" fmla="*/ 3627 w 5264"/>
                  <a:gd name="T55" fmla="*/ 2388 h 5292"/>
                  <a:gd name="T56" fmla="*/ 2927 w 5264"/>
                  <a:gd name="T57" fmla="*/ 2368 h 5292"/>
                  <a:gd name="T58" fmla="*/ 2905 w 5264"/>
                  <a:gd name="T59" fmla="*/ 1664 h 5292"/>
                  <a:gd name="T60" fmla="*/ 4042 w 5264"/>
                  <a:gd name="T61" fmla="*/ 2306 h 5292"/>
                  <a:gd name="T62" fmla="*/ 2984 w 5264"/>
                  <a:gd name="T63" fmla="*/ 1256 h 5292"/>
                  <a:gd name="T64" fmla="*/ 3319 w 5264"/>
                  <a:gd name="T65" fmla="*/ 678 h 5292"/>
                  <a:gd name="T66" fmla="*/ 4621 w 5264"/>
                  <a:gd name="T67" fmla="*/ 1961 h 5292"/>
                  <a:gd name="T68" fmla="*/ 4608 w 5264"/>
                  <a:gd name="T69" fmla="*/ 1979 h 5292"/>
                  <a:gd name="T70" fmla="*/ 4042 w 5264"/>
                  <a:gd name="T71" fmla="*/ 2306 h 5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264" h="5292">
                    <a:moveTo>
                      <a:pt x="5113" y="1371"/>
                    </a:moveTo>
                    <a:cubicBezTo>
                      <a:pt x="5023" y="1351"/>
                      <a:pt x="4927" y="1413"/>
                      <a:pt x="4908" y="1497"/>
                    </a:cubicBezTo>
                    <a:cubicBezTo>
                      <a:pt x="4903" y="1517"/>
                      <a:pt x="4884" y="1582"/>
                      <a:pt x="4838" y="1670"/>
                    </a:cubicBezTo>
                    <a:lnTo>
                      <a:pt x="3624" y="455"/>
                    </a:lnTo>
                    <a:cubicBezTo>
                      <a:pt x="3723" y="404"/>
                      <a:pt x="3793" y="388"/>
                      <a:pt x="3795" y="387"/>
                    </a:cubicBezTo>
                    <a:cubicBezTo>
                      <a:pt x="4017" y="335"/>
                      <a:pt x="3938" y="0"/>
                      <a:pt x="3716" y="53"/>
                    </a:cubicBezTo>
                    <a:cubicBezTo>
                      <a:pt x="3702" y="56"/>
                      <a:pt x="2355" y="408"/>
                      <a:pt x="2576" y="2330"/>
                    </a:cubicBezTo>
                    <a:cubicBezTo>
                      <a:pt x="2488" y="2325"/>
                      <a:pt x="2400" y="2322"/>
                      <a:pt x="2313" y="2322"/>
                    </a:cubicBezTo>
                    <a:cubicBezTo>
                      <a:pt x="743" y="2322"/>
                      <a:pt x="142" y="3309"/>
                      <a:pt x="117" y="3350"/>
                    </a:cubicBezTo>
                    <a:cubicBezTo>
                      <a:pt x="0" y="3548"/>
                      <a:pt x="297" y="3715"/>
                      <a:pt x="412" y="3527"/>
                    </a:cubicBezTo>
                    <a:cubicBezTo>
                      <a:pt x="421" y="3512"/>
                      <a:pt x="468" y="3438"/>
                      <a:pt x="563" y="3338"/>
                    </a:cubicBezTo>
                    <a:lnTo>
                      <a:pt x="1957" y="4732"/>
                    </a:lnTo>
                    <a:cubicBezTo>
                      <a:pt x="1857" y="4826"/>
                      <a:pt x="1783" y="4873"/>
                      <a:pt x="1769" y="4882"/>
                    </a:cubicBezTo>
                    <a:cubicBezTo>
                      <a:pt x="1574" y="4998"/>
                      <a:pt x="1748" y="5292"/>
                      <a:pt x="1944" y="5178"/>
                    </a:cubicBezTo>
                    <a:cubicBezTo>
                      <a:pt x="1991" y="5150"/>
                      <a:pt x="3083" y="4480"/>
                      <a:pt x="2964" y="2718"/>
                    </a:cubicBezTo>
                    <a:cubicBezTo>
                      <a:pt x="4372" y="2881"/>
                      <a:pt x="5100" y="2166"/>
                      <a:pt x="5242" y="1577"/>
                    </a:cubicBezTo>
                    <a:cubicBezTo>
                      <a:pt x="5264" y="1484"/>
                      <a:pt x="5204" y="1391"/>
                      <a:pt x="5113" y="1371"/>
                    </a:cubicBezTo>
                    <a:close/>
                    <a:moveTo>
                      <a:pt x="2595" y="3439"/>
                    </a:moveTo>
                    <a:lnTo>
                      <a:pt x="1856" y="2699"/>
                    </a:lnTo>
                    <a:cubicBezTo>
                      <a:pt x="2092" y="2664"/>
                      <a:pt x="2354" y="2657"/>
                      <a:pt x="2616" y="2678"/>
                    </a:cubicBezTo>
                    <a:cubicBezTo>
                      <a:pt x="2638" y="2944"/>
                      <a:pt x="2631" y="3199"/>
                      <a:pt x="2595" y="3439"/>
                    </a:cubicBezTo>
                    <a:close/>
                    <a:moveTo>
                      <a:pt x="1445" y="2791"/>
                    </a:moveTo>
                    <a:lnTo>
                      <a:pt x="2499" y="3851"/>
                    </a:lnTo>
                    <a:cubicBezTo>
                      <a:pt x="2393" y="4163"/>
                      <a:pt x="2265" y="4373"/>
                      <a:pt x="2175" y="4478"/>
                    </a:cubicBezTo>
                    <a:lnTo>
                      <a:pt x="818" y="3116"/>
                    </a:lnTo>
                    <a:cubicBezTo>
                      <a:pt x="1053" y="2925"/>
                      <a:pt x="1357" y="2830"/>
                      <a:pt x="1445" y="2791"/>
                    </a:cubicBezTo>
                    <a:close/>
                    <a:moveTo>
                      <a:pt x="2905" y="1664"/>
                    </a:moveTo>
                    <a:lnTo>
                      <a:pt x="3627" y="2388"/>
                    </a:lnTo>
                    <a:cubicBezTo>
                      <a:pt x="3414" y="2409"/>
                      <a:pt x="3176" y="2401"/>
                      <a:pt x="2927" y="2368"/>
                    </a:cubicBezTo>
                    <a:cubicBezTo>
                      <a:pt x="2893" y="2114"/>
                      <a:pt x="2885" y="1878"/>
                      <a:pt x="2905" y="1664"/>
                    </a:cubicBezTo>
                    <a:close/>
                    <a:moveTo>
                      <a:pt x="4042" y="2306"/>
                    </a:moveTo>
                    <a:lnTo>
                      <a:pt x="2984" y="1256"/>
                    </a:lnTo>
                    <a:cubicBezTo>
                      <a:pt x="3061" y="1007"/>
                      <a:pt x="3171" y="834"/>
                      <a:pt x="3319" y="678"/>
                    </a:cubicBezTo>
                    <a:lnTo>
                      <a:pt x="4621" y="1961"/>
                    </a:lnTo>
                    <a:lnTo>
                      <a:pt x="4608" y="1979"/>
                    </a:lnTo>
                    <a:cubicBezTo>
                      <a:pt x="4400" y="2179"/>
                      <a:pt x="4130" y="2291"/>
                      <a:pt x="4042" y="2306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cs typeface="+mn-ea"/>
                </a:endParaRPr>
              </a:p>
            </p:txBody>
          </p:sp>
        </p:grpSp>
      </p:grpSp>
      <p:grpSp>
        <p:nvGrpSpPr>
          <p:cNvPr id="37" name="组合 13">
            <a:extLst>
              <a:ext uri="{FF2B5EF4-FFF2-40B4-BE49-F238E27FC236}">
                <a16:creationId xmlns:a16="http://schemas.microsoft.com/office/drawing/2014/main" id="{EDD83690-C671-644D-D164-01AEDF973524}"/>
              </a:ext>
            </a:extLst>
          </p:cNvPr>
          <p:cNvGrpSpPr/>
          <p:nvPr/>
        </p:nvGrpSpPr>
        <p:grpSpPr>
          <a:xfrm>
            <a:off x="274324" y="4912914"/>
            <a:ext cx="11388257" cy="426700"/>
            <a:chOff x="2738013" y="3320273"/>
            <a:chExt cx="8262825" cy="287013"/>
          </a:xfrm>
        </p:grpSpPr>
        <p:sp>
          <p:nvSpPr>
            <p:cNvPr id="38" name="文本框 31">
              <a:extLst>
                <a:ext uri="{FF2B5EF4-FFF2-40B4-BE49-F238E27FC236}">
                  <a16:creationId xmlns:a16="http://schemas.microsoft.com/office/drawing/2014/main" id="{46D07A5C-0FDE-6E29-362E-06F29A2534A1}"/>
                </a:ext>
              </a:extLst>
            </p:cNvPr>
            <p:cNvSpPr txBox="1"/>
            <p:nvPr/>
          </p:nvSpPr>
          <p:spPr>
            <a:xfrm>
              <a:off x="2738013" y="3380051"/>
              <a:ext cx="920531" cy="186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Driver/HAL </a:t>
              </a:r>
              <a:endPara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129">
              <a:extLst>
                <a:ext uri="{FF2B5EF4-FFF2-40B4-BE49-F238E27FC236}">
                  <a16:creationId xmlns:a16="http://schemas.microsoft.com/office/drawing/2014/main" id="{03B7C811-A5CA-D8FF-C9EA-35428F9728C6}"/>
                </a:ext>
              </a:extLst>
            </p:cNvPr>
            <p:cNvSpPr/>
            <p:nvPr/>
          </p:nvSpPr>
          <p:spPr>
            <a:xfrm>
              <a:off x="4100239" y="3320273"/>
              <a:ext cx="2232506" cy="2870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b="1" spc="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KMD</a:t>
              </a:r>
              <a:endParaRPr lang="zh-CN" altLang="en-US" sz="11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圆角矩形 130">
              <a:extLst>
                <a:ext uri="{FF2B5EF4-FFF2-40B4-BE49-F238E27FC236}">
                  <a16:creationId xmlns:a16="http://schemas.microsoft.com/office/drawing/2014/main" id="{466F2B44-8E94-CCCF-2EEE-8D08C54A631C}"/>
                </a:ext>
              </a:extLst>
            </p:cNvPr>
            <p:cNvSpPr/>
            <p:nvPr/>
          </p:nvSpPr>
          <p:spPr>
            <a:xfrm>
              <a:off x="6442486" y="3320279"/>
              <a:ext cx="2227351" cy="2870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b="1" spc="1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UMD</a:t>
              </a:r>
              <a:endParaRPr lang="zh-CN" altLang="en-US" sz="11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 131">
              <a:extLst>
                <a:ext uri="{FF2B5EF4-FFF2-40B4-BE49-F238E27FC236}">
                  <a16:creationId xmlns:a16="http://schemas.microsoft.com/office/drawing/2014/main" id="{AA11F38D-152D-2853-4369-10B6F5AD9C4E}"/>
                </a:ext>
              </a:extLst>
            </p:cNvPr>
            <p:cNvSpPr/>
            <p:nvPr/>
          </p:nvSpPr>
          <p:spPr>
            <a:xfrm>
              <a:off x="8773487" y="3320279"/>
              <a:ext cx="2227351" cy="2870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b="1" spc="1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Virtualization</a:t>
              </a:r>
              <a:endParaRPr lang="zh-CN" altLang="en-US" sz="1100" b="1" spc="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2" name="直接连接符 2">
            <a:extLst>
              <a:ext uri="{FF2B5EF4-FFF2-40B4-BE49-F238E27FC236}">
                <a16:creationId xmlns:a16="http://schemas.microsoft.com/office/drawing/2014/main" id="{1E8B756B-1D2C-FAD7-2935-DA422438C89D}"/>
              </a:ext>
            </a:extLst>
          </p:cNvPr>
          <p:cNvCxnSpPr>
            <a:cxnSpLocks/>
          </p:cNvCxnSpPr>
          <p:nvPr/>
        </p:nvCxnSpPr>
        <p:spPr>
          <a:xfrm>
            <a:off x="349857" y="5759647"/>
            <a:ext cx="115055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14">
            <a:extLst>
              <a:ext uri="{FF2B5EF4-FFF2-40B4-BE49-F238E27FC236}">
                <a16:creationId xmlns:a16="http://schemas.microsoft.com/office/drawing/2014/main" id="{E58512D9-B1C8-D7D8-3C98-5DCF3C6872E0}"/>
              </a:ext>
            </a:extLst>
          </p:cNvPr>
          <p:cNvGrpSpPr/>
          <p:nvPr/>
        </p:nvGrpSpPr>
        <p:grpSpPr>
          <a:xfrm>
            <a:off x="274318" y="5839157"/>
            <a:ext cx="11400369" cy="764599"/>
            <a:chOff x="2738010" y="3856811"/>
            <a:chExt cx="8271614" cy="514295"/>
          </a:xfrm>
        </p:grpSpPr>
        <p:sp>
          <p:nvSpPr>
            <p:cNvPr id="45" name="梯形 5">
              <a:extLst>
                <a:ext uri="{FF2B5EF4-FFF2-40B4-BE49-F238E27FC236}">
                  <a16:creationId xmlns:a16="http://schemas.microsoft.com/office/drawing/2014/main" id="{FA9ED2C1-C8D2-8E97-2D45-CF78F7B79215}"/>
                </a:ext>
              </a:extLst>
            </p:cNvPr>
            <p:cNvSpPr/>
            <p:nvPr/>
          </p:nvSpPr>
          <p:spPr>
            <a:xfrm>
              <a:off x="4116115" y="4037744"/>
              <a:ext cx="6893509" cy="333362"/>
            </a:xfrm>
            <a:prstGeom prst="trapezoid">
              <a:avLst>
                <a:gd name="adj" fmla="val 94603"/>
              </a:avLst>
            </a:prstGeom>
            <a:solidFill>
              <a:schemeClr val="bg1">
                <a:alpha val="29000"/>
              </a:schemeClr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 prstMaterial="matte">
              <a:bevelT h="38100"/>
              <a:bevelB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200" dirty="0">
                <a:cs typeface="+mn-ea"/>
              </a:endParaRPr>
            </a:p>
          </p:txBody>
        </p:sp>
        <p:sp>
          <p:nvSpPr>
            <p:cNvPr id="46" name="文本框 40">
              <a:extLst>
                <a:ext uri="{FF2B5EF4-FFF2-40B4-BE49-F238E27FC236}">
                  <a16:creationId xmlns:a16="http://schemas.microsoft.com/office/drawing/2014/main" id="{21F2A10C-36D8-FE5D-8305-7E8BB2D797F1}"/>
                </a:ext>
              </a:extLst>
            </p:cNvPr>
            <p:cNvSpPr txBox="1"/>
            <p:nvPr/>
          </p:nvSpPr>
          <p:spPr>
            <a:xfrm>
              <a:off x="2738010" y="4037746"/>
              <a:ext cx="899049" cy="186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Hardware</a:t>
              </a:r>
              <a:endPara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7" name="图片 57">
              <a:extLst>
                <a:ext uri="{FF2B5EF4-FFF2-40B4-BE49-F238E27FC236}">
                  <a16:creationId xmlns:a16="http://schemas.microsoft.com/office/drawing/2014/main" id="{DB213708-F368-5C5F-3484-B82AB4C0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0297" y="3856811"/>
              <a:ext cx="832559" cy="468314"/>
            </a:xfrm>
            <a:prstGeom prst="rect">
              <a:avLst/>
            </a:prstGeom>
          </p:spPr>
        </p:pic>
        <p:pic>
          <p:nvPicPr>
            <p:cNvPr id="48" name="图片 58">
              <a:extLst>
                <a:ext uri="{FF2B5EF4-FFF2-40B4-BE49-F238E27FC236}">
                  <a16:creationId xmlns:a16="http://schemas.microsoft.com/office/drawing/2014/main" id="{C9AB2AD9-444F-A87E-17CE-57529182B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7512" y="3917206"/>
              <a:ext cx="618681" cy="347525"/>
            </a:xfrm>
            <a:prstGeom prst="rect">
              <a:avLst/>
            </a:prstGeom>
          </p:spPr>
        </p:pic>
        <p:pic>
          <p:nvPicPr>
            <p:cNvPr id="49" name="图片 59">
              <a:extLst>
                <a:ext uri="{FF2B5EF4-FFF2-40B4-BE49-F238E27FC236}">
                  <a16:creationId xmlns:a16="http://schemas.microsoft.com/office/drawing/2014/main" id="{D29A81DD-5E0F-5437-F4B3-6F1787789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1997" y="3874806"/>
              <a:ext cx="481191" cy="432324"/>
            </a:xfrm>
            <a:prstGeom prst="rect">
              <a:avLst/>
            </a:prstGeom>
          </p:spPr>
        </p:pic>
        <p:pic>
          <p:nvPicPr>
            <p:cNvPr id="50" name="Picture 6" descr="https://www.inspur.com/lcjtww/2526894/2526897/2526898/2527436/2020111313290496316.png">
              <a:extLst>
                <a:ext uri="{FF2B5EF4-FFF2-40B4-BE49-F238E27FC236}">
                  <a16:creationId xmlns:a16="http://schemas.microsoft.com/office/drawing/2014/main" id="{377B1444-83B1-EF6A-7EC3-A76E460906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0210" y="3892165"/>
              <a:ext cx="831031" cy="3976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6" descr="https://www.inspur.com/lcjtww/2526894/2526897/2526898/2527436/2020111313290496316.png">
              <a:extLst>
                <a:ext uri="{FF2B5EF4-FFF2-40B4-BE49-F238E27FC236}">
                  <a16:creationId xmlns:a16="http://schemas.microsoft.com/office/drawing/2014/main" id="{DFA2625A-DBD3-C36B-DA63-6608466EE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1912" y="3892165"/>
              <a:ext cx="831031" cy="3976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D9F8A613-0E83-445D-A052-9F734170FF15}"/>
              </a:ext>
            </a:extLst>
          </p:cNvPr>
          <p:cNvGrpSpPr/>
          <p:nvPr/>
        </p:nvGrpSpPr>
        <p:grpSpPr>
          <a:xfrm>
            <a:off x="274320" y="886091"/>
            <a:ext cx="9130499" cy="465329"/>
            <a:chOff x="274320" y="981503"/>
            <a:chExt cx="9130499" cy="465329"/>
          </a:xfrm>
        </p:grpSpPr>
        <p:sp>
          <p:nvSpPr>
            <p:cNvPr id="23" name="文本框 99">
              <a:extLst>
                <a:ext uri="{FF2B5EF4-FFF2-40B4-BE49-F238E27FC236}">
                  <a16:creationId xmlns:a16="http://schemas.microsoft.com/office/drawing/2014/main" id="{78839F7A-DFE7-C674-121B-66F57D6A3B5F}"/>
                </a:ext>
              </a:extLst>
            </p:cNvPr>
            <p:cNvSpPr txBox="1"/>
            <p:nvPr/>
          </p:nvSpPr>
          <p:spPr>
            <a:xfrm>
              <a:off x="274320" y="1156039"/>
              <a:ext cx="12762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Solution</a:t>
              </a:r>
              <a:endPara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圆角矩形 108">
              <a:extLst>
                <a:ext uri="{FF2B5EF4-FFF2-40B4-BE49-F238E27FC236}">
                  <a16:creationId xmlns:a16="http://schemas.microsoft.com/office/drawing/2014/main" id="{70A2A7A7-94C2-C6A3-6779-1723AAFBAF52}"/>
                </a:ext>
              </a:extLst>
            </p:cNvPr>
            <p:cNvSpPr/>
            <p:nvPr/>
          </p:nvSpPr>
          <p:spPr>
            <a:xfrm>
              <a:off x="6367005" y="1076473"/>
              <a:ext cx="1607492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AutoStream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68">
              <a:extLst>
                <a:ext uri="{FF2B5EF4-FFF2-40B4-BE49-F238E27FC236}">
                  <a16:creationId xmlns:a16="http://schemas.microsoft.com/office/drawing/2014/main" id="{7C4AA11B-CD09-B067-ECD9-AB52E494552F}"/>
                </a:ext>
              </a:extLst>
            </p:cNvPr>
            <p:cNvSpPr/>
            <p:nvPr/>
          </p:nvSpPr>
          <p:spPr>
            <a:xfrm>
              <a:off x="8126165" y="981503"/>
              <a:ext cx="1278654" cy="428168"/>
            </a:xfrm>
            <a:prstGeom prst="roundRect">
              <a:avLst>
                <a:gd name="adj" fmla="val 50000"/>
              </a:avLst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3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…</a:t>
              </a:r>
              <a:endPara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圆角矩形 108">
              <a:extLst>
                <a:ext uri="{FF2B5EF4-FFF2-40B4-BE49-F238E27FC236}">
                  <a16:creationId xmlns:a16="http://schemas.microsoft.com/office/drawing/2014/main" id="{DBD4072A-7DB8-A1F5-DC7A-1A69935A7974}"/>
                </a:ext>
              </a:extLst>
            </p:cNvPr>
            <p:cNvSpPr/>
            <p:nvPr/>
          </p:nvSpPr>
          <p:spPr>
            <a:xfrm>
              <a:off x="2173695" y="1072299"/>
              <a:ext cx="1406129" cy="37453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BIREN CUBE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圆角矩形 109">
              <a:extLst>
                <a:ext uri="{FF2B5EF4-FFF2-40B4-BE49-F238E27FC236}">
                  <a16:creationId xmlns:a16="http://schemas.microsoft.com/office/drawing/2014/main" id="{DE636AB0-E089-3518-DDF0-C28BF376BCE6}"/>
                </a:ext>
              </a:extLst>
            </p:cNvPr>
            <p:cNvSpPr/>
            <p:nvPr/>
          </p:nvSpPr>
          <p:spPr>
            <a:xfrm>
              <a:off x="4169668" y="1072299"/>
              <a:ext cx="1607492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29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Model Zoo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97E8FB2-D355-46B1-88BF-2D48AA7668E9}"/>
              </a:ext>
            </a:extLst>
          </p:cNvPr>
          <p:cNvGrpSpPr/>
          <p:nvPr/>
        </p:nvGrpSpPr>
        <p:grpSpPr>
          <a:xfrm>
            <a:off x="281943" y="1510247"/>
            <a:ext cx="11322567" cy="952252"/>
            <a:chOff x="281943" y="1732879"/>
            <a:chExt cx="11322567" cy="952252"/>
          </a:xfrm>
        </p:grpSpPr>
        <p:sp>
          <p:nvSpPr>
            <p:cNvPr id="8" name="文本框 42">
              <a:extLst>
                <a:ext uri="{FF2B5EF4-FFF2-40B4-BE49-F238E27FC236}">
                  <a16:creationId xmlns:a16="http://schemas.microsoft.com/office/drawing/2014/main" id="{1CF5DD65-8270-081A-AD02-AAA27A1FB08A}"/>
                </a:ext>
              </a:extLst>
            </p:cNvPr>
            <p:cNvSpPr txBox="1"/>
            <p:nvPr/>
          </p:nvSpPr>
          <p:spPr>
            <a:xfrm>
              <a:off x="281943" y="1947915"/>
              <a:ext cx="127621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Framework</a:t>
              </a:r>
              <a:endPara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圆角矩形 98">
              <a:extLst>
                <a:ext uri="{FF2B5EF4-FFF2-40B4-BE49-F238E27FC236}">
                  <a16:creationId xmlns:a16="http://schemas.microsoft.com/office/drawing/2014/main" id="{6DBADD36-A5C3-840E-1259-E488710A5E78}"/>
                </a:ext>
              </a:extLst>
            </p:cNvPr>
            <p:cNvSpPr/>
            <p:nvPr/>
          </p:nvSpPr>
          <p:spPr>
            <a:xfrm>
              <a:off x="6353809" y="2290433"/>
              <a:ext cx="1660446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97">
              <a:extLst>
                <a:ext uri="{FF2B5EF4-FFF2-40B4-BE49-F238E27FC236}">
                  <a16:creationId xmlns:a16="http://schemas.microsoft.com/office/drawing/2014/main" id="{017EA604-BD1C-7F01-E46B-23A004C7B232}"/>
                </a:ext>
              </a:extLst>
            </p:cNvPr>
            <p:cNvSpPr/>
            <p:nvPr/>
          </p:nvSpPr>
          <p:spPr>
            <a:xfrm>
              <a:off x="4276439" y="2292294"/>
              <a:ext cx="1819561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1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96">
              <a:extLst>
                <a:ext uri="{FF2B5EF4-FFF2-40B4-BE49-F238E27FC236}">
                  <a16:creationId xmlns:a16="http://schemas.microsoft.com/office/drawing/2014/main" id="{61D1A7BC-D1F5-66E9-C42B-3248CF191DC0}"/>
                </a:ext>
              </a:extLst>
            </p:cNvPr>
            <p:cNvSpPr/>
            <p:nvPr/>
          </p:nvSpPr>
          <p:spPr>
            <a:xfrm>
              <a:off x="2178016" y="2286872"/>
              <a:ext cx="1838316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2" name="图片 54">
              <a:extLst>
                <a:ext uri="{FF2B5EF4-FFF2-40B4-BE49-F238E27FC236}">
                  <a16:creationId xmlns:a16="http://schemas.microsoft.com/office/drawing/2014/main" id="{2DEB6108-7BF9-DF22-7833-C41ED619E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52281" y="2357287"/>
              <a:ext cx="1216580" cy="242857"/>
            </a:xfrm>
            <a:prstGeom prst="rect">
              <a:avLst/>
            </a:prstGeom>
            <a:ln w="6350">
              <a:noFill/>
            </a:ln>
          </p:spPr>
        </p:pic>
        <p:pic>
          <p:nvPicPr>
            <p:cNvPr id="13" name="Picture 2" descr="查看源图像">
              <a:extLst>
                <a:ext uri="{FF2B5EF4-FFF2-40B4-BE49-F238E27FC236}">
                  <a16:creationId xmlns:a16="http://schemas.microsoft.com/office/drawing/2014/main" id="{2F986561-7C29-6962-B481-5570897F84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2" b="32135"/>
            <a:stretch/>
          </p:blipFill>
          <p:spPr bwMode="auto">
            <a:xfrm>
              <a:off x="4477863" y="2326596"/>
              <a:ext cx="1302460" cy="311167"/>
            </a:xfrm>
            <a:prstGeom prst="rect">
              <a:avLst/>
            </a:prstGeom>
            <a:noFill/>
            <a:ln w="63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查看源图像">
              <a:extLst>
                <a:ext uri="{FF2B5EF4-FFF2-40B4-BE49-F238E27FC236}">
                  <a16:creationId xmlns:a16="http://schemas.microsoft.com/office/drawing/2014/main" id="{C6B0680A-9259-46E8-F631-14CCDBBCA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6706" y="2301598"/>
              <a:ext cx="988090" cy="383533"/>
            </a:xfrm>
            <a:prstGeom prst="rect">
              <a:avLst/>
            </a:prstGeom>
            <a:noFill/>
            <a:ln w="63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圆角矩形 107">
              <a:extLst>
                <a:ext uri="{FF2B5EF4-FFF2-40B4-BE49-F238E27FC236}">
                  <a16:creationId xmlns:a16="http://schemas.microsoft.com/office/drawing/2014/main" id="{4B1C73A8-DC46-7E87-D663-E77C2BCF296D}"/>
                </a:ext>
              </a:extLst>
            </p:cNvPr>
            <p:cNvSpPr/>
            <p:nvPr/>
          </p:nvSpPr>
          <p:spPr>
            <a:xfrm>
              <a:off x="8234400" y="2296752"/>
              <a:ext cx="1576759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suInfer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en-US" altLang="zh-CN" sz="11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suInfer</a:t>
              </a:r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-LLM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圆角矩形 107">
              <a:extLst>
                <a:ext uri="{FF2B5EF4-FFF2-40B4-BE49-F238E27FC236}">
                  <a16:creationId xmlns:a16="http://schemas.microsoft.com/office/drawing/2014/main" id="{4B1C73A8-DC46-7E87-D663-E77C2BCF296D}"/>
                </a:ext>
              </a:extLst>
            </p:cNvPr>
            <p:cNvSpPr/>
            <p:nvPr/>
          </p:nvSpPr>
          <p:spPr>
            <a:xfrm>
              <a:off x="10025716" y="2305369"/>
              <a:ext cx="1571171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5" name="Picture 2" descr="GitHub - vllm-project/vllm: A high-throughput and memory-efficient  inference and serving engine for LLMs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22546" y="2355809"/>
              <a:ext cx="717596" cy="250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圆角矩形 96">
              <a:extLst>
                <a:ext uri="{FF2B5EF4-FFF2-40B4-BE49-F238E27FC236}">
                  <a16:creationId xmlns:a16="http://schemas.microsoft.com/office/drawing/2014/main" id="{61D1A7BC-D1F5-66E9-C42B-3248CF191DC0}"/>
                </a:ext>
              </a:extLst>
            </p:cNvPr>
            <p:cNvSpPr/>
            <p:nvPr/>
          </p:nvSpPr>
          <p:spPr>
            <a:xfrm>
              <a:off x="2188620" y="1748128"/>
              <a:ext cx="2015858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DeepSpeed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圆角矩形 96">
              <a:extLst>
                <a:ext uri="{FF2B5EF4-FFF2-40B4-BE49-F238E27FC236}">
                  <a16:creationId xmlns:a16="http://schemas.microsoft.com/office/drawing/2014/main" id="{61D1A7BC-D1F5-66E9-C42B-3248CF191DC0}"/>
                </a:ext>
              </a:extLst>
            </p:cNvPr>
            <p:cNvSpPr/>
            <p:nvPr/>
          </p:nvSpPr>
          <p:spPr>
            <a:xfrm>
              <a:off x="4554485" y="1748128"/>
              <a:ext cx="2116670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Megatron-</a:t>
              </a:r>
              <a:r>
                <a:rPr lang="en-US" altLang="zh-CN" sz="1100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LM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圆角矩形 96">
              <a:extLst>
                <a:ext uri="{FF2B5EF4-FFF2-40B4-BE49-F238E27FC236}">
                  <a16:creationId xmlns:a16="http://schemas.microsoft.com/office/drawing/2014/main" id="{61D1A7BC-D1F5-66E9-C42B-3248CF191DC0}"/>
                </a:ext>
              </a:extLst>
            </p:cNvPr>
            <p:cNvSpPr/>
            <p:nvPr/>
          </p:nvSpPr>
          <p:spPr>
            <a:xfrm>
              <a:off x="7021162" y="1737725"/>
              <a:ext cx="2116670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Elastic Toolkit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圆角矩形 96">
              <a:extLst>
                <a:ext uri="{FF2B5EF4-FFF2-40B4-BE49-F238E27FC236}">
                  <a16:creationId xmlns:a16="http://schemas.microsoft.com/office/drawing/2014/main" id="{61D1A7BC-D1F5-66E9-C42B-3248CF191DC0}"/>
                </a:ext>
              </a:extLst>
            </p:cNvPr>
            <p:cNvSpPr/>
            <p:nvPr/>
          </p:nvSpPr>
          <p:spPr>
            <a:xfrm>
              <a:off x="9487840" y="1732879"/>
              <a:ext cx="2116670" cy="360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29000"/>
              </a:schemeClr>
            </a:solidFill>
            <a:ln w="6350">
              <a:solidFill>
                <a:srgbClr val="448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1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Heterogeneous GPU Collaboratively Training</a:t>
              </a:r>
              <a:endPara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11"/>
            <a:srcRect l="18973" t="1" r="14827" b="34086"/>
            <a:stretch/>
          </p:blipFill>
          <p:spPr>
            <a:xfrm>
              <a:off x="2424283" y="1791104"/>
              <a:ext cx="341403" cy="310815"/>
            </a:xfrm>
            <a:prstGeom prst="rect">
              <a:avLst/>
            </a:prstGeom>
          </p:spPr>
        </p:pic>
        <p:pic>
          <p:nvPicPr>
            <p:cNvPr id="63" name="图片 62"/>
            <p:cNvPicPr>
              <a:picLocks noChangeAspect="1"/>
            </p:cNvPicPr>
            <p:nvPr/>
          </p:nvPicPr>
          <p:blipFill rotWithShape="1">
            <a:blip r:embed="rId12"/>
            <a:srcRect l="3681" r="7485" b="31406"/>
            <a:stretch/>
          </p:blipFill>
          <p:spPr>
            <a:xfrm>
              <a:off x="4710526" y="1800673"/>
              <a:ext cx="399823" cy="277943"/>
            </a:xfrm>
            <a:prstGeom prst="rect">
              <a:avLst/>
            </a:prstGeom>
          </p:spPr>
        </p:pic>
      </p:grpSp>
      <p:cxnSp>
        <p:nvCxnSpPr>
          <p:cNvPr id="67" name="直接连接符 2">
            <a:extLst>
              <a:ext uri="{FF2B5EF4-FFF2-40B4-BE49-F238E27FC236}">
                <a16:creationId xmlns:a16="http://schemas.microsoft.com/office/drawing/2014/main" id="{F638D48F-9C80-41E0-B7FD-277323D203EB}"/>
              </a:ext>
            </a:extLst>
          </p:cNvPr>
          <p:cNvCxnSpPr>
            <a:cxnSpLocks/>
          </p:cNvCxnSpPr>
          <p:nvPr/>
        </p:nvCxnSpPr>
        <p:spPr>
          <a:xfrm>
            <a:off x="349857" y="806570"/>
            <a:ext cx="1158210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>
            <a:extLst>
              <a:ext uri="{FF2B5EF4-FFF2-40B4-BE49-F238E27FC236}">
                <a16:creationId xmlns:a16="http://schemas.microsoft.com/office/drawing/2014/main" id="{57C65742-E9E9-4A1D-904B-4D9DAC0D6382}"/>
              </a:ext>
            </a:extLst>
          </p:cNvPr>
          <p:cNvSpPr/>
          <p:nvPr/>
        </p:nvSpPr>
        <p:spPr>
          <a:xfrm>
            <a:off x="1989688" y="2710700"/>
            <a:ext cx="9837890" cy="1764553"/>
          </a:xfrm>
          <a:prstGeom prst="rect">
            <a:avLst/>
          </a:prstGeom>
          <a:noFill/>
          <a:ln w="19050">
            <a:solidFill>
              <a:srgbClr val="448DD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423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rIns="45720" rtlCol="0" anchor="ctr"/>
      <a:lstStyle>
        <a:defPPr algn="ctr">
          <a:defRPr dirty="0" err="1" smtClean="0">
            <a:solidFill>
              <a:schemeClr val="tx1"/>
            </a:solidFill>
            <a:latin typeface="Arial "/>
            <a:ea typeface="Microsoft YaHei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F03E62DD-3955-4456-8049-58067C312483}" vid="{FDD46F61-67E8-42F8-BFF1-14B700A14A8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58</TotalTime>
  <Words>391</Words>
  <Application>Microsoft Office PowerPoint</Application>
  <PresentationFormat>宽屏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 </vt:lpstr>
      <vt:lpstr>等线</vt:lpstr>
      <vt:lpstr>思源黑体 CN Heavy</vt:lpstr>
      <vt:lpstr>微软雅黑</vt:lpstr>
      <vt:lpstr>Arial</vt:lpstr>
      <vt:lpstr>Wingdings</vt:lpstr>
      <vt:lpstr>1_Office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BIRENSUPA 全栈覆盖</dc:title>
  <dc:creator>Haichuan Wang</dc:creator>
  <cp:lastModifiedBy>Jirong Li(李季戎)</cp:lastModifiedBy>
  <cp:revision>16</cp:revision>
  <dcterms:created xsi:type="dcterms:W3CDTF">2024-11-29T10:24:37Z</dcterms:created>
  <dcterms:modified xsi:type="dcterms:W3CDTF">2025-03-06T02:37:38Z</dcterms:modified>
</cp:coreProperties>
</file>